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90" r:id="rId3"/>
    <p:sldId id="296" r:id="rId4"/>
    <p:sldId id="285" r:id="rId5"/>
    <p:sldId id="297" r:id="rId6"/>
    <p:sldId id="286" r:id="rId7"/>
    <p:sldId id="265" r:id="rId8"/>
    <p:sldId id="294" r:id="rId9"/>
    <p:sldId id="271" r:id="rId10"/>
    <p:sldId id="295" r:id="rId11"/>
    <p:sldId id="291" r:id="rId12"/>
    <p:sldId id="293" r:id="rId13"/>
    <p:sldId id="262" r:id="rId14"/>
    <p:sldId id="278" r:id="rId15"/>
    <p:sldId id="272" r:id="rId16"/>
    <p:sldId id="292" r:id="rId17"/>
    <p:sldId id="289" r:id="rId18"/>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sin título" id="{E16FFACC-6858-44B4-8C32-BB48A1F76345}">
          <p14:sldIdLst>
            <p14:sldId id="267"/>
            <p14:sldId id="290"/>
            <p14:sldId id="296"/>
            <p14:sldId id="285"/>
            <p14:sldId id="297"/>
            <p14:sldId id="286"/>
            <p14:sldId id="265"/>
            <p14:sldId id="294"/>
            <p14:sldId id="271"/>
            <p14:sldId id="295"/>
            <p14:sldId id="291"/>
            <p14:sldId id="293"/>
            <p14:sldId id="262"/>
            <p14:sldId id="278"/>
            <p14:sldId id="272"/>
            <p14:sldId id="292"/>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82" d="100"/>
          <a:sy n="82"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2">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3">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34D63B-2C5C-43AA-AC85-B9FFC8F28684}" type="doc">
      <dgm:prSet loTypeId="urn:microsoft.com/office/officeart/2005/8/layout/list1" loCatId="list" qsTypeId="urn:microsoft.com/office/officeart/2005/8/quickstyle/simple1#1" qsCatId="simple" csTypeId="urn:microsoft.com/office/officeart/2005/8/colors/accent2_1#1" csCatId="accent2" phldr="1"/>
      <dgm:spPr/>
      <dgm:t>
        <a:bodyPr/>
        <a:lstStyle/>
        <a:p>
          <a:endParaRPr lang="es-ES"/>
        </a:p>
      </dgm:t>
    </dgm:pt>
    <dgm:pt modelId="{580246F2-DB89-4B7E-A659-1F66DFD342F1}">
      <dgm:prSet phldrT="[Texto]" custT="1"/>
      <dgm:spPr/>
      <dgm:t>
        <a:bodyPr/>
        <a:lstStyle/>
        <a:p>
          <a:r>
            <a:rPr lang="es-ES" sz="1800" b="1" dirty="0">
              <a:latin typeface="+mj-lt"/>
            </a:rPr>
            <a:t>Población de estudio u objetivo: </a:t>
          </a:r>
          <a:r>
            <a:rPr lang="es-EC" sz="1800" dirty="0">
              <a:latin typeface="+mj-lt"/>
            </a:rPr>
            <a:t>Los hogares y las personas que residen habitualmente en las viviendas particulares del Ecuador, tanto en el área urbana como en la rural.</a:t>
          </a:r>
          <a:endParaRPr lang="es-ES" sz="1800" dirty="0">
            <a:latin typeface="+mj-lt"/>
          </a:endParaRPr>
        </a:p>
      </dgm:t>
    </dgm:pt>
    <dgm:pt modelId="{37B68E8B-4957-4A27-A3C6-FB1EB91DF960}" type="parTrans" cxnId="{EF31E0E2-4D73-4BBB-B60C-7AB0E453C626}">
      <dgm:prSet/>
      <dgm:spPr/>
      <dgm:t>
        <a:bodyPr/>
        <a:lstStyle/>
        <a:p>
          <a:endParaRPr lang="es-ES" sz="1400">
            <a:latin typeface="Century Gothic" panose="020B0502020202020204" pitchFamily="34" charset="0"/>
          </a:endParaRPr>
        </a:p>
      </dgm:t>
    </dgm:pt>
    <dgm:pt modelId="{1F9CD8D5-38F7-4EC0-B6C1-B4BB39322E57}" type="sibTrans" cxnId="{EF31E0E2-4D73-4BBB-B60C-7AB0E453C626}">
      <dgm:prSet/>
      <dgm:spPr/>
      <dgm:t>
        <a:bodyPr/>
        <a:lstStyle/>
        <a:p>
          <a:endParaRPr lang="es-ES" sz="1400">
            <a:latin typeface="Century Gothic" panose="020B0502020202020204" pitchFamily="34" charset="0"/>
          </a:endParaRPr>
        </a:p>
      </dgm:t>
    </dgm:pt>
    <dgm:pt modelId="{8B7D5089-6239-4DDA-B3F7-D0D798265948}">
      <dgm:prSet phldrT="[Texto]" custT="1"/>
      <dgm:spPr/>
      <dgm:t>
        <a:bodyPr/>
        <a:lstStyle/>
        <a:p>
          <a:r>
            <a:rPr lang="es-ES" sz="1800" b="1" dirty="0">
              <a:latin typeface="+mj-lt"/>
            </a:rPr>
            <a:t>Unidad de análisis: </a:t>
          </a:r>
          <a:r>
            <a:rPr lang="es-EC" sz="1800" dirty="0">
              <a:latin typeface="+mj-lt"/>
            </a:rPr>
            <a:t>El hogar, para el estudio del ingreso corriente y el gasto de consumo; y la persona, como unidad base de recolección de la encuesta.</a:t>
          </a:r>
          <a:endParaRPr lang="es-ES" sz="1800" dirty="0">
            <a:latin typeface="+mj-lt"/>
          </a:endParaRPr>
        </a:p>
      </dgm:t>
    </dgm:pt>
    <dgm:pt modelId="{74925677-EF02-41FD-95B2-5AC2BCA9891C}" type="parTrans" cxnId="{5FE48476-12E7-43D0-87F6-3A0127FF94E7}">
      <dgm:prSet/>
      <dgm:spPr/>
      <dgm:t>
        <a:bodyPr/>
        <a:lstStyle/>
        <a:p>
          <a:endParaRPr lang="es-ES" sz="1400">
            <a:latin typeface="Century Gothic" panose="020B0502020202020204" pitchFamily="34" charset="0"/>
          </a:endParaRPr>
        </a:p>
      </dgm:t>
    </dgm:pt>
    <dgm:pt modelId="{E241319D-AC7D-448B-B5F2-0967B9F56B9A}" type="sibTrans" cxnId="{5FE48476-12E7-43D0-87F6-3A0127FF94E7}">
      <dgm:prSet/>
      <dgm:spPr/>
      <dgm:t>
        <a:bodyPr/>
        <a:lstStyle/>
        <a:p>
          <a:endParaRPr lang="es-ES" sz="1400">
            <a:latin typeface="Century Gothic" panose="020B0502020202020204" pitchFamily="34" charset="0"/>
          </a:endParaRPr>
        </a:p>
      </dgm:t>
    </dgm:pt>
    <dgm:pt modelId="{0573E379-EC11-4B7B-A56B-EDD904C4138C}">
      <dgm:prSet phldrT="[Texto]" custT="1"/>
      <dgm:spPr/>
      <dgm:t>
        <a:bodyPr/>
        <a:lstStyle/>
        <a:p>
          <a:r>
            <a:rPr lang="es-ES" sz="1800" b="1" dirty="0">
              <a:latin typeface="+mj-lt"/>
            </a:rPr>
            <a:t>Tamaño muestral nacional: </a:t>
          </a:r>
          <a:r>
            <a:rPr lang="es-EC" sz="1800" dirty="0">
              <a:latin typeface="+mj-lt"/>
            </a:rPr>
            <a:t>Se encuestaron 35.398 hogares a nivel nacional, que representan (al expandir con el factor de ponderación) 5.461.665 hogares en todo el país.</a:t>
          </a:r>
          <a:endParaRPr lang="es-ES" sz="1800" dirty="0">
            <a:latin typeface="+mj-lt"/>
          </a:endParaRPr>
        </a:p>
      </dgm:t>
    </dgm:pt>
    <dgm:pt modelId="{3D4E1374-798F-48A4-90BE-CF86C07011ED}" type="parTrans" cxnId="{E183C824-CC1D-4583-9E35-FFAF08311AB6}">
      <dgm:prSet/>
      <dgm:spPr/>
      <dgm:t>
        <a:bodyPr/>
        <a:lstStyle/>
        <a:p>
          <a:endParaRPr lang="es-ES" sz="1400">
            <a:latin typeface="Century Gothic" panose="020B0502020202020204" pitchFamily="34" charset="0"/>
          </a:endParaRPr>
        </a:p>
      </dgm:t>
    </dgm:pt>
    <dgm:pt modelId="{0DF4323E-6AA0-4238-A1BB-122DC760D97A}" type="sibTrans" cxnId="{E183C824-CC1D-4583-9E35-FFAF08311AB6}">
      <dgm:prSet/>
      <dgm:spPr/>
      <dgm:t>
        <a:bodyPr/>
        <a:lstStyle/>
        <a:p>
          <a:endParaRPr lang="es-ES" sz="1400">
            <a:latin typeface="Century Gothic" panose="020B0502020202020204" pitchFamily="34" charset="0"/>
          </a:endParaRPr>
        </a:p>
      </dgm:t>
    </dgm:pt>
    <dgm:pt modelId="{1E792DC6-47F4-4077-B310-36259FEF48BD}" type="pres">
      <dgm:prSet presAssocID="{9534D63B-2C5C-43AA-AC85-B9FFC8F28684}" presName="linear" presStyleCnt="0">
        <dgm:presLayoutVars>
          <dgm:dir/>
          <dgm:animLvl val="lvl"/>
          <dgm:resizeHandles val="exact"/>
        </dgm:presLayoutVars>
      </dgm:prSet>
      <dgm:spPr/>
    </dgm:pt>
    <dgm:pt modelId="{9284BEDA-F0B8-4D3A-BEEF-66681659F2A1}" type="pres">
      <dgm:prSet presAssocID="{580246F2-DB89-4B7E-A659-1F66DFD342F1}" presName="parentLin" presStyleCnt="0"/>
      <dgm:spPr/>
    </dgm:pt>
    <dgm:pt modelId="{90020823-80AC-4E88-8146-9B3424D884B2}" type="pres">
      <dgm:prSet presAssocID="{580246F2-DB89-4B7E-A659-1F66DFD342F1}" presName="parentLeftMargin" presStyleLbl="node1" presStyleIdx="0" presStyleCnt="3"/>
      <dgm:spPr/>
    </dgm:pt>
    <dgm:pt modelId="{D6AC84E9-76B7-4E52-A088-C7F3A34F3CEB}" type="pres">
      <dgm:prSet presAssocID="{580246F2-DB89-4B7E-A659-1F66DFD342F1}" presName="parentText" presStyleLbl="node1" presStyleIdx="0" presStyleCnt="3">
        <dgm:presLayoutVars>
          <dgm:chMax val="0"/>
          <dgm:bulletEnabled val="1"/>
        </dgm:presLayoutVars>
      </dgm:prSet>
      <dgm:spPr/>
    </dgm:pt>
    <dgm:pt modelId="{BEF97F93-D1EE-4B33-BAB6-C8F316D27C41}" type="pres">
      <dgm:prSet presAssocID="{580246F2-DB89-4B7E-A659-1F66DFD342F1}" presName="negativeSpace" presStyleCnt="0"/>
      <dgm:spPr/>
    </dgm:pt>
    <dgm:pt modelId="{0C79EC16-7C60-4679-AE21-C81CCC6ED84B}" type="pres">
      <dgm:prSet presAssocID="{580246F2-DB89-4B7E-A659-1F66DFD342F1}" presName="childText" presStyleLbl="conFgAcc1" presStyleIdx="0" presStyleCnt="3">
        <dgm:presLayoutVars>
          <dgm:bulletEnabled val="1"/>
        </dgm:presLayoutVars>
      </dgm:prSet>
      <dgm:spPr/>
    </dgm:pt>
    <dgm:pt modelId="{1FE05447-2E49-4465-B352-B26CA2191F1D}" type="pres">
      <dgm:prSet presAssocID="{1F9CD8D5-38F7-4EC0-B6C1-B4BB39322E57}" presName="spaceBetweenRectangles" presStyleCnt="0"/>
      <dgm:spPr/>
    </dgm:pt>
    <dgm:pt modelId="{D5CEFC53-C238-41AF-B19F-CCE080CC79B3}" type="pres">
      <dgm:prSet presAssocID="{8B7D5089-6239-4DDA-B3F7-D0D798265948}" presName="parentLin" presStyleCnt="0"/>
      <dgm:spPr/>
    </dgm:pt>
    <dgm:pt modelId="{B8EF083B-2401-44D3-B792-5CB31A74C83F}" type="pres">
      <dgm:prSet presAssocID="{8B7D5089-6239-4DDA-B3F7-D0D798265948}" presName="parentLeftMargin" presStyleLbl="node1" presStyleIdx="0" presStyleCnt="3"/>
      <dgm:spPr/>
    </dgm:pt>
    <dgm:pt modelId="{EDB835CD-A8D7-4D70-865A-0145EFA1CE08}" type="pres">
      <dgm:prSet presAssocID="{8B7D5089-6239-4DDA-B3F7-D0D798265948}" presName="parentText" presStyleLbl="node1" presStyleIdx="1" presStyleCnt="3">
        <dgm:presLayoutVars>
          <dgm:chMax val="0"/>
          <dgm:bulletEnabled val="1"/>
        </dgm:presLayoutVars>
      </dgm:prSet>
      <dgm:spPr/>
    </dgm:pt>
    <dgm:pt modelId="{E4395A25-CDB6-49DB-BBCB-E0A394347383}" type="pres">
      <dgm:prSet presAssocID="{8B7D5089-6239-4DDA-B3F7-D0D798265948}" presName="negativeSpace" presStyleCnt="0"/>
      <dgm:spPr/>
    </dgm:pt>
    <dgm:pt modelId="{BBE695CC-C755-412D-AE35-4563D4B15B80}" type="pres">
      <dgm:prSet presAssocID="{8B7D5089-6239-4DDA-B3F7-D0D798265948}" presName="childText" presStyleLbl="conFgAcc1" presStyleIdx="1" presStyleCnt="3">
        <dgm:presLayoutVars>
          <dgm:bulletEnabled val="1"/>
        </dgm:presLayoutVars>
      </dgm:prSet>
      <dgm:spPr/>
    </dgm:pt>
    <dgm:pt modelId="{2020F8CB-6770-4BCB-A74F-6EE65C7E6A1C}" type="pres">
      <dgm:prSet presAssocID="{E241319D-AC7D-448B-B5F2-0967B9F56B9A}" presName="spaceBetweenRectangles" presStyleCnt="0"/>
      <dgm:spPr/>
    </dgm:pt>
    <dgm:pt modelId="{F4319EC2-C040-46AA-95F1-81FB32089D01}" type="pres">
      <dgm:prSet presAssocID="{0573E379-EC11-4B7B-A56B-EDD904C4138C}" presName="parentLin" presStyleCnt="0"/>
      <dgm:spPr/>
    </dgm:pt>
    <dgm:pt modelId="{52B7DD03-64FB-4A64-A3AA-012DF1EDC9C2}" type="pres">
      <dgm:prSet presAssocID="{0573E379-EC11-4B7B-A56B-EDD904C4138C}" presName="parentLeftMargin" presStyleLbl="node1" presStyleIdx="1" presStyleCnt="3"/>
      <dgm:spPr/>
    </dgm:pt>
    <dgm:pt modelId="{0647FBF5-8020-4ED8-A491-7DA84368AE7A}" type="pres">
      <dgm:prSet presAssocID="{0573E379-EC11-4B7B-A56B-EDD904C4138C}" presName="parentText" presStyleLbl="node1" presStyleIdx="2" presStyleCnt="3">
        <dgm:presLayoutVars>
          <dgm:chMax val="0"/>
          <dgm:bulletEnabled val="1"/>
        </dgm:presLayoutVars>
      </dgm:prSet>
      <dgm:spPr/>
    </dgm:pt>
    <dgm:pt modelId="{3878A087-92AB-4C20-A75C-1DAC8B7FAAEF}" type="pres">
      <dgm:prSet presAssocID="{0573E379-EC11-4B7B-A56B-EDD904C4138C}" presName="negativeSpace" presStyleCnt="0"/>
      <dgm:spPr/>
    </dgm:pt>
    <dgm:pt modelId="{18E3AAAE-4EC3-4D69-8A34-33E29B419752}" type="pres">
      <dgm:prSet presAssocID="{0573E379-EC11-4B7B-A56B-EDD904C4138C}" presName="childText" presStyleLbl="conFgAcc1" presStyleIdx="2" presStyleCnt="3">
        <dgm:presLayoutVars>
          <dgm:bulletEnabled val="1"/>
        </dgm:presLayoutVars>
      </dgm:prSet>
      <dgm:spPr/>
    </dgm:pt>
  </dgm:ptLst>
  <dgm:cxnLst>
    <dgm:cxn modelId="{E183C824-CC1D-4583-9E35-FFAF08311AB6}" srcId="{9534D63B-2C5C-43AA-AC85-B9FFC8F28684}" destId="{0573E379-EC11-4B7B-A56B-EDD904C4138C}" srcOrd="2" destOrd="0" parTransId="{3D4E1374-798F-48A4-90BE-CF86C07011ED}" sibTransId="{0DF4323E-6AA0-4238-A1BB-122DC760D97A}"/>
    <dgm:cxn modelId="{5303D045-035E-4838-8AD8-C93590870DB9}" type="presOf" srcId="{0573E379-EC11-4B7B-A56B-EDD904C4138C}" destId="{0647FBF5-8020-4ED8-A491-7DA84368AE7A}" srcOrd="1" destOrd="0" presId="urn:microsoft.com/office/officeart/2005/8/layout/list1"/>
    <dgm:cxn modelId="{56F0D747-2A8C-4183-9E73-AA56B038608B}" type="presOf" srcId="{0573E379-EC11-4B7B-A56B-EDD904C4138C}" destId="{52B7DD03-64FB-4A64-A3AA-012DF1EDC9C2}" srcOrd="0" destOrd="0" presId="urn:microsoft.com/office/officeart/2005/8/layout/list1"/>
    <dgm:cxn modelId="{9459BD50-322D-426B-902E-1A86E26D76EA}" type="presOf" srcId="{9534D63B-2C5C-43AA-AC85-B9FFC8F28684}" destId="{1E792DC6-47F4-4077-B310-36259FEF48BD}" srcOrd="0" destOrd="0" presId="urn:microsoft.com/office/officeart/2005/8/layout/list1"/>
    <dgm:cxn modelId="{2BC18471-DFD4-4432-9B18-1B2167013FD9}" type="presOf" srcId="{580246F2-DB89-4B7E-A659-1F66DFD342F1}" destId="{90020823-80AC-4E88-8146-9B3424D884B2}" srcOrd="0" destOrd="0" presId="urn:microsoft.com/office/officeart/2005/8/layout/list1"/>
    <dgm:cxn modelId="{5FE48476-12E7-43D0-87F6-3A0127FF94E7}" srcId="{9534D63B-2C5C-43AA-AC85-B9FFC8F28684}" destId="{8B7D5089-6239-4DDA-B3F7-D0D798265948}" srcOrd="1" destOrd="0" parTransId="{74925677-EF02-41FD-95B2-5AC2BCA9891C}" sibTransId="{E241319D-AC7D-448B-B5F2-0967B9F56B9A}"/>
    <dgm:cxn modelId="{7BBD087C-F0ED-4F40-A547-BE105E04F3A9}" type="presOf" srcId="{8B7D5089-6239-4DDA-B3F7-D0D798265948}" destId="{EDB835CD-A8D7-4D70-865A-0145EFA1CE08}" srcOrd="1" destOrd="0" presId="urn:microsoft.com/office/officeart/2005/8/layout/list1"/>
    <dgm:cxn modelId="{30843897-695E-40CC-B80F-FC2B56FB48E3}" type="presOf" srcId="{8B7D5089-6239-4DDA-B3F7-D0D798265948}" destId="{B8EF083B-2401-44D3-B792-5CB31A74C83F}" srcOrd="0" destOrd="0" presId="urn:microsoft.com/office/officeart/2005/8/layout/list1"/>
    <dgm:cxn modelId="{EF31E0E2-4D73-4BBB-B60C-7AB0E453C626}" srcId="{9534D63B-2C5C-43AA-AC85-B9FFC8F28684}" destId="{580246F2-DB89-4B7E-A659-1F66DFD342F1}" srcOrd="0" destOrd="0" parTransId="{37B68E8B-4957-4A27-A3C6-FB1EB91DF960}" sibTransId="{1F9CD8D5-38F7-4EC0-B6C1-B4BB39322E57}"/>
    <dgm:cxn modelId="{1DEB68F3-88BA-421E-8891-A7C14527443F}" type="presOf" srcId="{580246F2-DB89-4B7E-A659-1F66DFD342F1}" destId="{D6AC84E9-76B7-4E52-A088-C7F3A34F3CEB}" srcOrd="1" destOrd="0" presId="urn:microsoft.com/office/officeart/2005/8/layout/list1"/>
    <dgm:cxn modelId="{C015C47C-FFEE-4B56-8F0E-49D4F275ADEE}" type="presParOf" srcId="{1E792DC6-47F4-4077-B310-36259FEF48BD}" destId="{9284BEDA-F0B8-4D3A-BEEF-66681659F2A1}" srcOrd="0" destOrd="0" presId="urn:microsoft.com/office/officeart/2005/8/layout/list1"/>
    <dgm:cxn modelId="{D78C281B-79B8-415C-8E4B-F560F907013E}" type="presParOf" srcId="{9284BEDA-F0B8-4D3A-BEEF-66681659F2A1}" destId="{90020823-80AC-4E88-8146-9B3424D884B2}" srcOrd="0" destOrd="0" presId="urn:microsoft.com/office/officeart/2005/8/layout/list1"/>
    <dgm:cxn modelId="{4BA6BBF1-2F46-4B7E-AFFA-566F59543AA0}" type="presParOf" srcId="{9284BEDA-F0B8-4D3A-BEEF-66681659F2A1}" destId="{D6AC84E9-76B7-4E52-A088-C7F3A34F3CEB}" srcOrd="1" destOrd="0" presId="urn:microsoft.com/office/officeart/2005/8/layout/list1"/>
    <dgm:cxn modelId="{9809F469-741D-493F-A4C0-59D0FAFA4B45}" type="presParOf" srcId="{1E792DC6-47F4-4077-B310-36259FEF48BD}" destId="{BEF97F93-D1EE-4B33-BAB6-C8F316D27C41}" srcOrd="1" destOrd="0" presId="urn:microsoft.com/office/officeart/2005/8/layout/list1"/>
    <dgm:cxn modelId="{35F4FB90-49FD-439D-975F-CC262D1E460F}" type="presParOf" srcId="{1E792DC6-47F4-4077-B310-36259FEF48BD}" destId="{0C79EC16-7C60-4679-AE21-C81CCC6ED84B}" srcOrd="2" destOrd="0" presId="urn:microsoft.com/office/officeart/2005/8/layout/list1"/>
    <dgm:cxn modelId="{A4F9C190-A555-47D1-AC36-DB4C99BD940B}" type="presParOf" srcId="{1E792DC6-47F4-4077-B310-36259FEF48BD}" destId="{1FE05447-2E49-4465-B352-B26CA2191F1D}" srcOrd="3" destOrd="0" presId="urn:microsoft.com/office/officeart/2005/8/layout/list1"/>
    <dgm:cxn modelId="{7395C32E-64D6-4751-B5F2-C0FE601DC583}" type="presParOf" srcId="{1E792DC6-47F4-4077-B310-36259FEF48BD}" destId="{D5CEFC53-C238-41AF-B19F-CCE080CC79B3}" srcOrd="4" destOrd="0" presId="urn:microsoft.com/office/officeart/2005/8/layout/list1"/>
    <dgm:cxn modelId="{85B9C12E-17F8-4327-B340-0C60CE987548}" type="presParOf" srcId="{D5CEFC53-C238-41AF-B19F-CCE080CC79B3}" destId="{B8EF083B-2401-44D3-B792-5CB31A74C83F}" srcOrd="0" destOrd="0" presId="urn:microsoft.com/office/officeart/2005/8/layout/list1"/>
    <dgm:cxn modelId="{B485D1A3-FD93-4232-A845-987CAF336F4B}" type="presParOf" srcId="{D5CEFC53-C238-41AF-B19F-CCE080CC79B3}" destId="{EDB835CD-A8D7-4D70-865A-0145EFA1CE08}" srcOrd="1" destOrd="0" presId="urn:microsoft.com/office/officeart/2005/8/layout/list1"/>
    <dgm:cxn modelId="{F1517E75-C36B-467A-B480-B231734FDEA0}" type="presParOf" srcId="{1E792DC6-47F4-4077-B310-36259FEF48BD}" destId="{E4395A25-CDB6-49DB-BBCB-E0A394347383}" srcOrd="5" destOrd="0" presId="urn:microsoft.com/office/officeart/2005/8/layout/list1"/>
    <dgm:cxn modelId="{5B01A2B6-F20A-46BB-8D18-8750E75BA496}" type="presParOf" srcId="{1E792DC6-47F4-4077-B310-36259FEF48BD}" destId="{BBE695CC-C755-412D-AE35-4563D4B15B80}" srcOrd="6" destOrd="0" presId="urn:microsoft.com/office/officeart/2005/8/layout/list1"/>
    <dgm:cxn modelId="{F28FF984-7945-4ABC-BBA6-386F983B642A}" type="presParOf" srcId="{1E792DC6-47F4-4077-B310-36259FEF48BD}" destId="{2020F8CB-6770-4BCB-A74F-6EE65C7E6A1C}" srcOrd="7" destOrd="0" presId="urn:microsoft.com/office/officeart/2005/8/layout/list1"/>
    <dgm:cxn modelId="{796D6209-721E-4F3D-AB6F-3E3AC7B91975}" type="presParOf" srcId="{1E792DC6-47F4-4077-B310-36259FEF48BD}" destId="{F4319EC2-C040-46AA-95F1-81FB32089D01}" srcOrd="8" destOrd="0" presId="urn:microsoft.com/office/officeart/2005/8/layout/list1"/>
    <dgm:cxn modelId="{BBF071E8-85CD-445F-983C-3442DEE9785A}" type="presParOf" srcId="{F4319EC2-C040-46AA-95F1-81FB32089D01}" destId="{52B7DD03-64FB-4A64-A3AA-012DF1EDC9C2}" srcOrd="0" destOrd="0" presId="urn:microsoft.com/office/officeart/2005/8/layout/list1"/>
    <dgm:cxn modelId="{48B4BD19-A59B-4BF4-A746-DBE494A9150A}" type="presParOf" srcId="{F4319EC2-C040-46AA-95F1-81FB32089D01}" destId="{0647FBF5-8020-4ED8-A491-7DA84368AE7A}" srcOrd="1" destOrd="0" presId="urn:microsoft.com/office/officeart/2005/8/layout/list1"/>
    <dgm:cxn modelId="{47BCBF63-A930-4B6B-8B08-39B089BE1155}" type="presParOf" srcId="{1E792DC6-47F4-4077-B310-36259FEF48BD}" destId="{3878A087-92AB-4C20-A75C-1DAC8B7FAAEF}" srcOrd="9" destOrd="0" presId="urn:microsoft.com/office/officeart/2005/8/layout/list1"/>
    <dgm:cxn modelId="{C9C3C8D9-5928-41ED-82A0-F077AF483B6D}" type="presParOf" srcId="{1E792DC6-47F4-4077-B310-36259FEF48BD}" destId="{18E3AAAE-4EC3-4D69-8A34-33E29B419752}"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E4D13-5441-4396-8AC5-C9A99F65950C}" type="doc">
      <dgm:prSet loTypeId="urn:microsoft.com/office/officeart/2005/8/layout/vList2" loCatId="list" qsTypeId="urn:microsoft.com/office/officeart/2005/8/quickstyle/simple1#2" qsCatId="simple" csTypeId="urn:microsoft.com/office/officeart/2005/8/colors/accent2_1#2" csCatId="accent2" phldr="1"/>
      <dgm:spPr/>
      <dgm:t>
        <a:bodyPr/>
        <a:lstStyle/>
        <a:p>
          <a:endParaRPr lang="es-ES"/>
        </a:p>
      </dgm:t>
    </dgm:pt>
    <dgm:pt modelId="{4E3346C4-75C0-4F7D-8A3E-C38864DBB171}">
      <dgm:prSet phldrT="[Texto]" custT="1"/>
      <dgm:spPr/>
      <dgm:t>
        <a:bodyPr/>
        <a:lstStyle/>
        <a:p>
          <a:r>
            <a:rPr lang="es-ES" sz="2800" dirty="0">
              <a:latin typeface="Century Gothic" panose="020B0502020202020204" pitchFamily="34" charset="0"/>
            </a:rPr>
            <a:t>Variable A: </a:t>
          </a:r>
          <a:r>
            <a:rPr lang="es-EC" sz="2800" dirty="0"/>
            <a:t>Territorio (Grupo)</a:t>
          </a:r>
          <a:endParaRPr lang="es-ES" sz="2800" dirty="0">
            <a:latin typeface="Century Gothic" panose="020B0502020202020204" pitchFamily="34" charset="0"/>
          </a:endParaRPr>
        </a:p>
      </dgm:t>
    </dgm:pt>
    <dgm:pt modelId="{1828E000-E547-401A-900D-1AD2B3F38DC8}" type="parTrans" cxnId="{CC91A665-7E8D-4A18-97FF-8DE9A294761E}">
      <dgm:prSet/>
      <dgm:spPr/>
      <dgm:t>
        <a:bodyPr/>
        <a:lstStyle/>
        <a:p>
          <a:endParaRPr lang="es-ES" sz="1400">
            <a:latin typeface="Century Gothic" panose="020B0502020202020204" pitchFamily="34" charset="0"/>
          </a:endParaRPr>
        </a:p>
      </dgm:t>
    </dgm:pt>
    <dgm:pt modelId="{577EC8FC-36CC-4986-B18C-D7E77C554518}" type="sibTrans" cxnId="{CC91A665-7E8D-4A18-97FF-8DE9A294761E}">
      <dgm:prSet/>
      <dgm:spPr/>
      <dgm:t>
        <a:bodyPr/>
        <a:lstStyle/>
        <a:p>
          <a:endParaRPr lang="es-ES" sz="1400">
            <a:latin typeface="Century Gothic" panose="020B0502020202020204" pitchFamily="34" charset="0"/>
          </a:endParaRPr>
        </a:p>
      </dgm:t>
    </dgm:pt>
    <dgm:pt modelId="{98459792-B68B-4510-9D69-008B022AB6CE}">
      <dgm:prSet phldrT="[Texto]" custT="1"/>
      <dgm:spPr/>
      <dgm:t>
        <a:bodyPr/>
        <a:lstStyle/>
        <a:p>
          <a:r>
            <a:rPr lang="es-ES" sz="2000" dirty="0">
              <a:latin typeface="Century Gothic" panose="020B0502020202020204" pitchFamily="34" charset="0"/>
            </a:rPr>
            <a:t>Opciones de respuesta: </a:t>
          </a:r>
          <a:r>
            <a:rPr lang="es-EC" sz="2000" dirty="0"/>
            <a:t>Nacional, Región Sierra, Cantón Ambato, Provincia Sucumbíos, Provincia Carchi</a:t>
          </a:r>
          <a:endParaRPr lang="es-ES" sz="2000" dirty="0">
            <a:latin typeface="Century Gothic" panose="020B0502020202020204" pitchFamily="34" charset="0"/>
          </a:endParaRPr>
        </a:p>
      </dgm:t>
    </dgm:pt>
    <dgm:pt modelId="{A6C25505-59F4-4250-A32C-F72C2190B2B4}" type="parTrans" cxnId="{DC072D64-086E-445A-AF23-DE08DF79A88A}">
      <dgm:prSet/>
      <dgm:spPr/>
      <dgm:t>
        <a:bodyPr/>
        <a:lstStyle/>
        <a:p>
          <a:endParaRPr lang="es-ES" sz="1400">
            <a:latin typeface="Century Gothic" panose="020B0502020202020204" pitchFamily="34" charset="0"/>
          </a:endParaRPr>
        </a:p>
      </dgm:t>
    </dgm:pt>
    <dgm:pt modelId="{6E156F5A-7E08-42F0-932E-ECCD108B1390}" type="sibTrans" cxnId="{DC072D64-086E-445A-AF23-DE08DF79A88A}">
      <dgm:prSet/>
      <dgm:spPr/>
      <dgm:t>
        <a:bodyPr/>
        <a:lstStyle/>
        <a:p>
          <a:endParaRPr lang="es-ES" sz="1400">
            <a:latin typeface="Century Gothic" panose="020B0502020202020204" pitchFamily="34" charset="0"/>
          </a:endParaRPr>
        </a:p>
      </dgm:t>
    </dgm:pt>
    <dgm:pt modelId="{74106C6C-207A-4716-9227-BC4A4E1B8680}">
      <dgm:prSet phldrT="[Texto]" custT="1"/>
      <dgm:spPr/>
      <dgm:t>
        <a:bodyPr/>
        <a:lstStyle/>
        <a:p>
          <a:r>
            <a:rPr lang="es-ES" sz="2800" dirty="0">
              <a:latin typeface="Century Gothic" panose="020B0502020202020204" pitchFamily="34" charset="0"/>
            </a:rPr>
            <a:t>Variable B: </a:t>
          </a:r>
          <a:r>
            <a:rPr lang="es-EC" sz="2800" dirty="0"/>
            <a:t>Decil de ingreso per cápita</a:t>
          </a:r>
          <a:endParaRPr lang="es-ES" sz="2800" dirty="0">
            <a:latin typeface="Century Gothic" panose="020B0502020202020204" pitchFamily="34" charset="0"/>
          </a:endParaRPr>
        </a:p>
      </dgm:t>
    </dgm:pt>
    <dgm:pt modelId="{0AFD2CD3-4729-44B3-A273-EAE4697CD76A}" type="parTrans" cxnId="{E8F24728-9A56-457F-A4B4-980F743576DB}">
      <dgm:prSet/>
      <dgm:spPr/>
      <dgm:t>
        <a:bodyPr/>
        <a:lstStyle/>
        <a:p>
          <a:endParaRPr lang="es-ES" sz="1400">
            <a:latin typeface="Century Gothic" panose="020B0502020202020204" pitchFamily="34" charset="0"/>
          </a:endParaRPr>
        </a:p>
      </dgm:t>
    </dgm:pt>
    <dgm:pt modelId="{705ACE9C-CB54-4215-B598-CA3B0B23ACC1}" type="sibTrans" cxnId="{E8F24728-9A56-457F-A4B4-980F743576DB}">
      <dgm:prSet/>
      <dgm:spPr/>
      <dgm:t>
        <a:bodyPr/>
        <a:lstStyle/>
        <a:p>
          <a:endParaRPr lang="es-ES" sz="1400">
            <a:latin typeface="Century Gothic" panose="020B0502020202020204" pitchFamily="34" charset="0"/>
          </a:endParaRPr>
        </a:p>
      </dgm:t>
    </dgm:pt>
    <dgm:pt modelId="{6BA39248-B5D1-4FFD-ABC3-9BDADE284265}">
      <dgm:prSet phldrT="[Texto]" custT="1"/>
      <dgm:spPr/>
      <dgm:t>
        <a:bodyPr/>
        <a:lstStyle/>
        <a:p>
          <a:r>
            <a:rPr lang="es-EC" sz="2000" dirty="0"/>
            <a:t>variable ordinal, 10 categorías (Decil 1 a Decil 10)</a:t>
          </a:r>
          <a:endParaRPr lang="es-ES" sz="2000" dirty="0">
            <a:latin typeface="Century Gothic" panose="020B0502020202020204" pitchFamily="34" charset="0"/>
          </a:endParaRPr>
        </a:p>
      </dgm:t>
    </dgm:pt>
    <dgm:pt modelId="{40D4371C-E322-400F-A9F9-D051DEBE5668}" type="parTrans" cxnId="{7D7E6945-C317-4C72-9D00-07B21EE61647}">
      <dgm:prSet/>
      <dgm:spPr/>
      <dgm:t>
        <a:bodyPr/>
        <a:lstStyle/>
        <a:p>
          <a:endParaRPr lang="es-ES" sz="1400">
            <a:latin typeface="Century Gothic" panose="020B0502020202020204" pitchFamily="34" charset="0"/>
          </a:endParaRPr>
        </a:p>
      </dgm:t>
    </dgm:pt>
    <dgm:pt modelId="{9622047F-C707-43A0-A6C2-1FF83DDF1B59}" type="sibTrans" cxnId="{7D7E6945-C317-4C72-9D00-07B21EE61647}">
      <dgm:prSet/>
      <dgm:spPr/>
      <dgm:t>
        <a:bodyPr/>
        <a:lstStyle/>
        <a:p>
          <a:endParaRPr lang="es-ES" sz="1400">
            <a:latin typeface="Century Gothic" panose="020B0502020202020204" pitchFamily="34" charset="0"/>
          </a:endParaRPr>
        </a:p>
      </dgm:t>
    </dgm:pt>
    <dgm:pt modelId="{F2D7FACA-71C7-48F4-9171-ADDF89242D6E}" type="pres">
      <dgm:prSet presAssocID="{9DFE4D13-5441-4396-8AC5-C9A99F65950C}" presName="linear" presStyleCnt="0">
        <dgm:presLayoutVars>
          <dgm:animLvl val="lvl"/>
          <dgm:resizeHandles val="exact"/>
        </dgm:presLayoutVars>
      </dgm:prSet>
      <dgm:spPr/>
    </dgm:pt>
    <dgm:pt modelId="{72FAB38A-F6BA-4ACF-AF3F-A63DEEAAAC4F}" type="pres">
      <dgm:prSet presAssocID="{4E3346C4-75C0-4F7D-8A3E-C38864DBB171}" presName="parentText" presStyleLbl="node1" presStyleIdx="0" presStyleCnt="2" custLinFactNeighborY="-29433">
        <dgm:presLayoutVars>
          <dgm:chMax val="0"/>
          <dgm:bulletEnabled val="1"/>
        </dgm:presLayoutVars>
      </dgm:prSet>
      <dgm:spPr/>
    </dgm:pt>
    <dgm:pt modelId="{7813C3B5-2383-40C0-BCC8-88BB43FF330E}" type="pres">
      <dgm:prSet presAssocID="{4E3346C4-75C0-4F7D-8A3E-C38864DBB171}" presName="childText" presStyleLbl="revTx" presStyleIdx="0" presStyleCnt="2" custLinFactNeighborY="-14500">
        <dgm:presLayoutVars>
          <dgm:bulletEnabled val="1"/>
        </dgm:presLayoutVars>
      </dgm:prSet>
      <dgm:spPr/>
    </dgm:pt>
    <dgm:pt modelId="{D0AB6777-250F-4A30-92F3-6FAADE9FAA67}" type="pres">
      <dgm:prSet presAssocID="{74106C6C-207A-4716-9227-BC4A4E1B8680}" presName="parentText" presStyleLbl="node1" presStyleIdx="1" presStyleCnt="2">
        <dgm:presLayoutVars>
          <dgm:chMax val="0"/>
          <dgm:bulletEnabled val="1"/>
        </dgm:presLayoutVars>
      </dgm:prSet>
      <dgm:spPr/>
    </dgm:pt>
    <dgm:pt modelId="{7E127073-C200-41D7-9BA5-571CEE9012AD}" type="pres">
      <dgm:prSet presAssocID="{74106C6C-207A-4716-9227-BC4A4E1B8680}" presName="childText" presStyleLbl="revTx" presStyleIdx="1" presStyleCnt="2">
        <dgm:presLayoutVars>
          <dgm:bulletEnabled val="1"/>
        </dgm:presLayoutVars>
      </dgm:prSet>
      <dgm:spPr/>
    </dgm:pt>
  </dgm:ptLst>
  <dgm:cxnLst>
    <dgm:cxn modelId="{E8F24728-9A56-457F-A4B4-980F743576DB}" srcId="{9DFE4D13-5441-4396-8AC5-C9A99F65950C}" destId="{74106C6C-207A-4716-9227-BC4A4E1B8680}" srcOrd="1" destOrd="0" parTransId="{0AFD2CD3-4729-44B3-A273-EAE4697CD76A}" sibTransId="{705ACE9C-CB54-4215-B598-CA3B0B23ACC1}"/>
    <dgm:cxn modelId="{E621433E-CEC9-4A9E-9D98-CB92954790E5}" type="presOf" srcId="{9DFE4D13-5441-4396-8AC5-C9A99F65950C}" destId="{F2D7FACA-71C7-48F4-9171-ADDF89242D6E}" srcOrd="0" destOrd="0" presId="urn:microsoft.com/office/officeart/2005/8/layout/vList2"/>
    <dgm:cxn modelId="{DC072D64-086E-445A-AF23-DE08DF79A88A}" srcId="{4E3346C4-75C0-4F7D-8A3E-C38864DBB171}" destId="{98459792-B68B-4510-9D69-008B022AB6CE}" srcOrd="0" destOrd="0" parTransId="{A6C25505-59F4-4250-A32C-F72C2190B2B4}" sibTransId="{6E156F5A-7E08-42F0-932E-ECCD108B1390}"/>
    <dgm:cxn modelId="{7D7E6945-C317-4C72-9D00-07B21EE61647}" srcId="{74106C6C-207A-4716-9227-BC4A4E1B8680}" destId="{6BA39248-B5D1-4FFD-ABC3-9BDADE284265}" srcOrd="0" destOrd="0" parTransId="{40D4371C-E322-400F-A9F9-D051DEBE5668}" sibTransId="{9622047F-C707-43A0-A6C2-1FF83DDF1B59}"/>
    <dgm:cxn modelId="{CC91A665-7E8D-4A18-97FF-8DE9A294761E}" srcId="{9DFE4D13-5441-4396-8AC5-C9A99F65950C}" destId="{4E3346C4-75C0-4F7D-8A3E-C38864DBB171}" srcOrd="0" destOrd="0" parTransId="{1828E000-E547-401A-900D-1AD2B3F38DC8}" sibTransId="{577EC8FC-36CC-4986-B18C-D7E77C554518}"/>
    <dgm:cxn modelId="{7246A94C-2920-4CB5-BC28-E3BCA8A7EB94}" type="presOf" srcId="{98459792-B68B-4510-9D69-008B022AB6CE}" destId="{7813C3B5-2383-40C0-BCC8-88BB43FF330E}" srcOrd="0" destOrd="0" presId="urn:microsoft.com/office/officeart/2005/8/layout/vList2"/>
    <dgm:cxn modelId="{B4A6C1A6-77D7-495D-B604-785A2FA3D4B8}" type="presOf" srcId="{74106C6C-207A-4716-9227-BC4A4E1B8680}" destId="{D0AB6777-250F-4A30-92F3-6FAADE9FAA67}" srcOrd="0" destOrd="0" presId="urn:microsoft.com/office/officeart/2005/8/layout/vList2"/>
    <dgm:cxn modelId="{B2F655D6-E248-47C2-83CD-A72B8338E70F}" type="presOf" srcId="{6BA39248-B5D1-4FFD-ABC3-9BDADE284265}" destId="{7E127073-C200-41D7-9BA5-571CEE9012AD}" srcOrd="0" destOrd="0" presId="urn:microsoft.com/office/officeart/2005/8/layout/vList2"/>
    <dgm:cxn modelId="{6A2A90D9-DD4F-427E-B2BE-E2642FFC03D6}" type="presOf" srcId="{4E3346C4-75C0-4F7D-8A3E-C38864DBB171}" destId="{72FAB38A-F6BA-4ACF-AF3F-A63DEEAAAC4F}" srcOrd="0" destOrd="0" presId="urn:microsoft.com/office/officeart/2005/8/layout/vList2"/>
    <dgm:cxn modelId="{03EAC7F8-5084-4D8E-9A06-A0A5AC5C2049}" type="presParOf" srcId="{F2D7FACA-71C7-48F4-9171-ADDF89242D6E}" destId="{72FAB38A-F6BA-4ACF-AF3F-A63DEEAAAC4F}" srcOrd="0" destOrd="0" presId="urn:microsoft.com/office/officeart/2005/8/layout/vList2"/>
    <dgm:cxn modelId="{74C68133-37CC-4FA4-9EB1-767AE08E56AC}" type="presParOf" srcId="{F2D7FACA-71C7-48F4-9171-ADDF89242D6E}" destId="{7813C3B5-2383-40C0-BCC8-88BB43FF330E}" srcOrd="1" destOrd="0" presId="urn:microsoft.com/office/officeart/2005/8/layout/vList2"/>
    <dgm:cxn modelId="{CA246B06-2B9F-468A-A854-67FD6EDA418D}" type="presParOf" srcId="{F2D7FACA-71C7-48F4-9171-ADDF89242D6E}" destId="{D0AB6777-250F-4A30-92F3-6FAADE9FAA67}" srcOrd="2" destOrd="0" presId="urn:microsoft.com/office/officeart/2005/8/layout/vList2"/>
    <dgm:cxn modelId="{28312A88-7327-4841-8E08-A3D265DF30AD}" type="presParOf" srcId="{F2D7FACA-71C7-48F4-9171-ADDF89242D6E}" destId="{7E127073-C200-41D7-9BA5-571CEE9012A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FE4D13-5441-4396-8AC5-C9A99F65950C}" type="doc">
      <dgm:prSet loTypeId="urn:microsoft.com/office/officeart/2005/8/layout/vList2" loCatId="list" qsTypeId="urn:microsoft.com/office/officeart/2005/8/quickstyle/simple1#3" qsCatId="simple" csTypeId="urn:microsoft.com/office/officeart/2005/8/colors/accent2_1#3" csCatId="accent2" phldr="1"/>
      <dgm:spPr/>
      <dgm:t>
        <a:bodyPr/>
        <a:lstStyle/>
        <a:p>
          <a:endParaRPr lang="es-ES"/>
        </a:p>
      </dgm:t>
    </dgm:pt>
    <dgm:pt modelId="{4E3346C4-75C0-4F7D-8A3E-C38864DBB171}">
      <dgm:prSet phldrT="[Texto]" custT="1"/>
      <dgm:spPr/>
      <dgm:t>
        <a:bodyPr/>
        <a:lstStyle/>
        <a:p>
          <a:r>
            <a:rPr lang="es-ES" sz="2800" dirty="0">
              <a:latin typeface="Century Gothic" panose="020B0502020202020204" pitchFamily="34" charset="0"/>
            </a:rPr>
            <a:t>Variable A: Ingreso corriente per cápita </a:t>
          </a:r>
        </a:p>
      </dgm:t>
    </dgm:pt>
    <dgm:pt modelId="{1828E000-E547-401A-900D-1AD2B3F38DC8}" type="parTrans" cxnId="{CC91A665-7E8D-4A18-97FF-8DE9A294761E}">
      <dgm:prSet/>
      <dgm:spPr/>
      <dgm:t>
        <a:bodyPr/>
        <a:lstStyle/>
        <a:p>
          <a:endParaRPr lang="es-ES" sz="1400">
            <a:latin typeface="Century Gothic" panose="020B0502020202020204" pitchFamily="34" charset="0"/>
          </a:endParaRPr>
        </a:p>
      </dgm:t>
    </dgm:pt>
    <dgm:pt modelId="{577EC8FC-36CC-4986-B18C-D7E77C554518}" type="sibTrans" cxnId="{CC91A665-7E8D-4A18-97FF-8DE9A294761E}">
      <dgm:prSet/>
      <dgm:spPr/>
      <dgm:t>
        <a:bodyPr/>
        <a:lstStyle/>
        <a:p>
          <a:endParaRPr lang="es-ES" sz="1400">
            <a:latin typeface="Century Gothic" panose="020B0502020202020204" pitchFamily="34" charset="0"/>
          </a:endParaRPr>
        </a:p>
      </dgm:t>
    </dgm:pt>
    <dgm:pt modelId="{98459792-B68B-4510-9D69-008B022AB6CE}">
      <dgm:prSet phldrT="[Texto]" custT="1"/>
      <dgm:spPr/>
      <dgm:t>
        <a:bodyPr/>
        <a:lstStyle/>
        <a:p>
          <a:r>
            <a:rPr lang="es-ES" sz="2000" dirty="0">
              <a:latin typeface="Century Gothic" panose="020B0502020202020204" pitchFamily="34" charset="0"/>
            </a:rPr>
            <a:t>Soporte: Valores </a:t>
          </a:r>
          <a:r>
            <a:rPr lang="en-US" sz="2000" dirty="0">
              <a:latin typeface="Century Gothic" panose="020B0502020202020204" pitchFamily="34" charset="0"/>
            </a:rPr>
            <a:t>≥ 0, </a:t>
          </a:r>
          <a:r>
            <a:rPr lang="en-US" sz="2000" dirty="0" err="1">
              <a:latin typeface="Century Gothic" panose="020B0502020202020204" pitchFamily="34" charset="0"/>
            </a:rPr>
            <a:t>en</a:t>
          </a:r>
          <a:r>
            <a:rPr lang="en-US" sz="2000" dirty="0">
              <a:latin typeface="Century Gothic" panose="020B0502020202020204" pitchFamily="34" charset="0"/>
            </a:rPr>
            <a:t> </a:t>
          </a:r>
          <a:r>
            <a:rPr lang="en-US" sz="2000" dirty="0" err="1">
              <a:latin typeface="Century Gothic" panose="020B0502020202020204" pitchFamily="34" charset="0"/>
            </a:rPr>
            <a:t>dolares</a:t>
          </a:r>
          <a:r>
            <a:rPr lang="en-US" sz="2000" dirty="0">
              <a:latin typeface="Century Gothic" panose="020B0502020202020204" pitchFamily="34" charset="0"/>
            </a:rPr>
            <a:t> </a:t>
          </a:r>
          <a:r>
            <a:rPr lang="en-US" sz="2000" dirty="0" err="1">
              <a:latin typeface="Century Gothic" panose="020B0502020202020204" pitchFamily="34" charset="0"/>
            </a:rPr>
            <a:t>mensuales</a:t>
          </a:r>
          <a:endParaRPr lang="es-ES" sz="2000" dirty="0">
            <a:latin typeface="Century Gothic" panose="020B0502020202020204" pitchFamily="34" charset="0"/>
          </a:endParaRPr>
        </a:p>
      </dgm:t>
    </dgm:pt>
    <dgm:pt modelId="{A6C25505-59F4-4250-A32C-F72C2190B2B4}" type="parTrans" cxnId="{DC072D64-086E-445A-AF23-DE08DF79A88A}">
      <dgm:prSet/>
      <dgm:spPr/>
      <dgm:t>
        <a:bodyPr/>
        <a:lstStyle/>
        <a:p>
          <a:endParaRPr lang="es-ES" sz="1400">
            <a:latin typeface="Century Gothic" panose="020B0502020202020204" pitchFamily="34" charset="0"/>
          </a:endParaRPr>
        </a:p>
      </dgm:t>
    </dgm:pt>
    <dgm:pt modelId="{6E156F5A-7E08-42F0-932E-ECCD108B1390}" type="sibTrans" cxnId="{DC072D64-086E-445A-AF23-DE08DF79A88A}">
      <dgm:prSet/>
      <dgm:spPr/>
      <dgm:t>
        <a:bodyPr/>
        <a:lstStyle/>
        <a:p>
          <a:endParaRPr lang="es-ES" sz="1400">
            <a:latin typeface="Century Gothic" panose="020B0502020202020204" pitchFamily="34" charset="0"/>
          </a:endParaRPr>
        </a:p>
      </dgm:t>
    </dgm:pt>
    <dgm:pt modelId="{74106C6C-207A-4716-9227-BC4A4E1B8680}">
      <dgm:prSet phldrT="[Texto]" custT="1"/>
      <dgm:spPr/>
      <dgm:t>
        <a:bodyPr/>
        <a:lstStyle/>
        <a:p>
          <a:r>
            <a:rPr lang="es-ES" sz="2800" dirty="0">
              <a:latin typeface="Century Gothic" panose="020B0502020202020204" pitchFamily="34" charset="0"/>
            </a:rPr>
            <a:t>Variable B: </a:t>
          </a:r>
          <a:r>
            <a:rPr lang="en-US" sz="2800" dirty="0" err="1">
              <a:latin typeface="Century Gothic" panose="020B0502020202020204" pitchFamily="34" charset="0"/>
            </a:rPr>
            <a:t>Gasto</a:t>
          </a:r>
          <a:r>
            <a:rPr lang="en-US" sz="2800" dirty="0">
              <a:latin typeface="Century Gothic" panose="020B0502020202020204" pitchFamily="34" charset="0"/>
            </a:rPr>
            <a:t> </a:t>
          </a:r>
          <a:r>
            <a:rPr lang="en-US" sz="2800" dirty="0" err="1">
              <a:latin typeface="Century Gothic" panose="020B0502020202020204" pitchFamily="34" charset="0"/>
            </a:rPr>
            <a:t>corriente</a:t>
          </a:r>
          <a:r>
            <a:rPr lang="en-US" sz="2800" dirty="0">
              <a:latin typeface="Century Gothic" panose="020B0502020202020204" pitchFamily="34" charset="0"/>
            </a:rPr>
            <a:t> de </a:t>
          </a:r>
          <a:r>
            <a:rPr lang="en-US" sz="2800" dirty="0" err="1">
              <a:latin typeface="Century Gothic" panose="020B0502020202020204" pitchFamily="34" charset="0"/>
            </a:rPr>
            <a:t>consumo</a:t>
          </a:r>
          <a:endParaRPr lang="es-ES" sz="2800" dirty="0">
            <a:latin typeface="Century Gothic" panose="020B0502020202020204" pitchFamily="34" charset="0"/>
          </a:endParaRPr>
        </a:p>
      </dgm:t>
    </dgm:pt>
    <dgm:pt modelId="{0AFD2CD3-4729-44B3-A273-EAE4697CD76A}" type="parTrans" cxnId="{E8F24728-9A56-457F-A4B4-980F743576DB}">
      <dgm:prSet/>
      <dgm:spPr/>
      <dgm:t>
        <a:bodyPr/>
        <a:lstStyle/>
        <a:p>
          <a:endParaRPr lang="es-ES" sz="1400">
            <a:latin typeface="Century Gothic" panose="020B0502020202020204" pitchFamily="34" charset="0"/>
          </a:endParaRPr>
        </a:p>
      </dgm:t>
    </dgm:pt>
    <dgm:pt modelId="{705ACE9C-CB54-4215-B598-CA3B0B23ACC1}" type="sibTrans" cxnId="{E8F24728-9A56-457F-A4B4-980F743576DB}">
      <dgm:prSet/>
      <dgm:spPr/>
      <dgm:t>
        <a:bodyPr/>
        <a:lstStyle/>
        <a:p>
          <a:endParaRPr lang="es-ES" sz="1400">
            <a:latin typeface="Century Gothic" panose="020B0502020202020204" pitchFamily="34" charset="0"/>
          </a:endParaRPr>
        </a:p>
      </dgm:t>
    </dgm:pt>
    <dgm:pt modelId="{6BA39248-B5D1-4FFD-ABC3-9BDADE284265}">
      <dgm:prSet phldrT="[Texto]" custT="1"/>
      <dgm:spPr/>
      <dgm:t>
        <a:bodyPr/>
        <a:lstStyle/>
        <a:p>
          <a:r>
            <a:rPr lang="es-ES" sz="2000" dirty="0">
              <a:latin typeface="Century Gothic" panose="020B0502020202020204" pitchFamily="34" charset="0"/>
            </a:rPr>
            <a:t>Soporte: </a:t>
          </a:r>
          <a:r>
            <a:rPr lang="es-MX" sz="2000" dirty="0">
              <a:latin typeface="Century Gothic" panose="020B0502020202020204" pitchFamily="34" charset="0"/>
            </a:rPr>
            <a:t>valores ≥ 0, en dólares (USD) mensuales</a:t>
          </a:r>
          <a:endParaRPr lang="es-ES" sz="2000" dirty="0">
            <a:latin typeface="Century Gothic" panose="020B0502020202020204" pitchFamily="34" charset="0"/>
          </a:endParaRPr>
        </a:p>
      </dgm:t>
    </dgm:pt>
    <dgm:pt modelId="{40D4371C-E322-400F-A9F9-D051DEBE5668}" type="parTrans" cxnId="{7D7E6945-C317-4C72-9D00-07B21EE61647}">
      <dgm:prSet/>
      <dgm:spPr/>
      <dgm:t>
        <a:bodyPr/>
        <a:lstStyle/>
        <a:p>
          <a:endParaRPr lang="es-ES" sz="1400">
            <a:latin typeface="Century Gothic" panose="020B0502020202020204" pitchFamily="34" charset="0"/>
          </a:endParaRPr>
        </a:p>
      </dgm:t>
    </dgm:pt>
    <dgm:pt modelId="{9622047F-C707-43A0-A6C2-1FF83DDF1B59}" type="sibTrans" cxnId="{7D7E6945-C317-4C72-9D00-07B21EE61647}">
      <dgm:prSet/>
      <dgm:spPr/>
      <dgm:t>
        <a:bodyPr/>
        <a:lstStyle/>
        <a:p>
          <a:endParaRPr lang="es-ES" sz="1400">
            <a:latin typeface="Century Gothic" panose="020B0502020202020204" pitchFamily="34" charset="0"/>
          </a:endParaRPr>
        </a:p>
      </dgm:t>
    </dgm:pt>
    <dgm:pt modelId="{08D343FD-D486-4A3B-9F4F-C40CA1BBDBA9}">
      <dgm:prSet phldrT="[Texto]" custT="1"/>
      <dgm:spPr/>
      <dgm:t>
        <a:bodyPr/>
        <a:lstStyle/>
        <a:p>
          <a:endParaRPr lang="es-ES" sz="2000" dirty="0">
            <a:latin typeface="Century Gothic" panose="020B0502020202020204" pitchFamily="34" charset="0"/>
          </a:endParaRPr>
        </a:p>
      </dgm:t>
    </dgm:pt>
    <dgm:pt modelId="{BA165059-05B7-4730-9E86-EE88E7B2B4D6}" type="parTrans" cxnId="{CE0CA534-076D-4A96-A802-F03FA8E8DE34}">
      <dgm:prSet/>
      <dgm:spPr/>
    </dgm:pt>
    <dgm:pt modelId="{9C55B6D1-BB79-48DF-B1F8-4AEFE53BC470}" type="sibTrans" cxnId="{CE0CA534-076D-4A96-A802-F03FA8E8DE34}">
      <dgm:prSet/>
      <dgm:spPr/>
    </dgm:pt>
    <dgm:pt modelId="{F2D7FACA-71C7-48F4-9171-ADDF89242D6E}" type="pres">
      <dgm:prSet presAssocID="{9DFE4D13-5441-4396-8AC5-C9A99F65950C}" presName="linear" presStyleCnt="0">
        <dgm:presLayoutVars>
          <dgm:animLvl val="lvl"/>
          <dgm:resizeHandles val="exact"/>
        </dgm:presLayoutVars>
      </dgm:prSet>
      <dgm:spPr/>
    </dgm:pt>
    <dgm:pt modelId="{72FAB38A-F6BA-4ACF-AF3F-A63DEEAAAC4F}" type="pres">
      <dgm:prSet presAssocID="{4E3346C4-75C0-4F7D-8A3E-C38864DBB171}" presName="parentText" presStyleLbl="node1" presStyleIdx="0" presStyleCnt="2">
        <dgm:presLayoutVars>
          <dgm:chMax val="0"/>
          <dgm:bulletEnabled val="1"/>
        </dgm:presLayoutVars>
      </dgm:prSet>
      <dgm:spPr/>
    </dgm:pt>
    <dgm:pt modelId="{7813C3B5-2383-40C0-BCC8-88BB43FF330E}" type="pres">
      <dgm:prSet presAssocID="{4E3346C4-75C0-4F7D-8A3E-C38864DBB171}" presName="childText" presStyleLbl="revTx" presStyleIdx="0" presStyleCnt="2">
        <dgm:presLayoutVars>
          <dgm:bulletEnabled val="1"/>
        </dgm:presLayoutVars>
      </dgm:prSet>
      <dgm:spPr/>
    </dgm:pt>
    <dgm:pt modelId="{D0AB6777-250F-4A30-92F3-6FAADE9FAA67}" type="pres">
      <dgm:prSet presAssocID="{74106C6C-207A-4716-9227-BC4A4E1B8680}" presName="parentText" presStyleLbl="node1" presStyleIdx="1" presStyleCnt="2">
        <dgm:presLayoutVars>
          <dgm:chMax val="0"/>
          <dgm:bulletEnabled val="1"/>
        </dgm:presLayoutVars>
      </dgm:prSet>
      <dgm:spPr/>
    </dgm:pt>
    <dgm:pt modelId="{7E127073-C200-41D7-9BA5-571CEE9012AD}" type="pres">
      <dgm:prSet presAssocID="{74106C6C-207A-4716-9227-BC4A4E1B8680}" presName="childText" presStyleLbl="revTx" presStyleIdx="1" presStyleCnt="2">
        <dgm:presLayoutVars>
          <dgm:bulletEnabled val="1"/>
        </dgm:presLayoutVars>
      </dgm:prSet>
      <dgm:spPr/>
    </dgm:pt>
  </dgm:ptLst>
  <dgm:cxnLst>
    <dgm:cxn modelId="{E8F24728-9A56-457F-A4B4-980F743576DB}" srcId="{9DFE4D13-5441-4396-8AC5-C9A99F65950C}" destId="{74106C6C-207A-4716-9227-BC4A4E1B8680}" srcOrd="1" destOrd="0" parTransId="{0AFD2CD3-4729-44B3-A273-EAE4697CD76A}" sibTransId="{705ACE9C-CB54-4215-B598-CA3B0B23ACC1}"/>
    <dgm:cxn modelId="{CE0CA534-076D-4A96-A802-F03FA8E8DE34}" srcId="{74106C6C-207A-4716-9227-BC4A4E1B8680}" destId="{08D343FD-D486-4A3B-9F4F-C40CA1BBDBA9}" srcOrd="1" destOrd="0" parTransId="{BA165059-05B7-4730-9E86-EE88E7B2B4D6}" sibTransId="{9C55B6D1-BB79-48DF-B1F8-4AEFE53BC470}"/>
    <dgm:cxn modelId="{E621433E-CEC9-4A9E-9D98-CB92954790E5}" type="presOf" srcId="{9DFE4D13-5441-4396-8AC5-C9A99F65950C}" destId="{F2D7FACA-71C7-48F4-9171-ADDF89242D6E}" srcOrd="0" destOrd="0" presId="urn:microsoft.com/office/officeart/2005/8/layout/vList2"/>
    <dgm:cxn modelId="{DC072D64-086E-445A-AF23-DE08DF79A88A}" srcId="{4E3346C4-75C0-4F7D-8A3E-C38864DBB171}" destId="{98459792-B68B-4510-9D69-008B022AB6CE}" srcOrd="0" destOrd="0" parTransId="{A6C25505-59F4-4250-A32C-F72C2190B2B4}" sibTransId="{6E156F5A-7E08-42F0-932E-ECCD108B1390}"/>
    <dgm:cxn modelId="{7D7E6945-C317-4C72-9D00-07B21EE61647}" srcId="{74106C6C-207A-4716-9227-BC4A4E1B8680}" destId="{6BA39248-B5D1-4FFD-ABC3-9BDADE284265}" srcOrd="0" destOrd="0" parTransId="{40D4371C-E322-400F-A9F9-D051DEBE5668}" sibTransId="{9622047F-C707-43A0-A6C2-1FF83DDF1B59}"/>
    <dgm:cxn modelId="{CC91A665-7E8D-4A18-97FF-8DE9A294761E}" srcId="{9DFE4D13-5441-4396-8AC5-C9A99F65950C}" destId="{4E3346C4-75C0-4F7D-8A3E-C38864DBB171}" srcOrd="0" destOrd="0" parTransId="{1828E000-E547-401A-900D-1AD2B3F38DC8}" sibTransId="{577EC8FC-36CC-4986-B18C-D7E77C554518}"/>
    <dgm:cxn modelId="{7246A94C-2920-4CB5-BC28-E3BCA8A7EB94}" type="presOf" srcId="{98459792-B68B-4510-9D69-008B022AB6CE}" destId="{7813C3B5-2383-40C0-BCC8-88BB43FF330E}" srcOrd="0" destOrd="0" presId="urn:microsoft.com/office/officeart/2005/8/layout/vList2"/>
    <dgm:cxn modelId="{B4A6C1A6-77D7-495D-B604-785A2FA3D4B8}" type="presOf" srcId="{74106C6C-207A-4716-9227-BC4A4E1B8680}" destId="{D0AB6777-250F-4A30-92F3-6FAADE9FAA67}" srcOrd="0" destOrd="0" presId="urn:microsoft.com/office/officeart/2005/8/layout/vList2"/>
    <dgm:cxn modelId="{683647B5-AB92-42EB-BEE2-928D1B34E3B1}" type="presOf" srcId="{08D343FD-D486-4A3B-9F4F-C40CA1BBDBA9}" destId="{7E127073-C200-41D7-9BA5-571CEE9012AD}" srcOrd="0" destOrd="1" presId="urn:microsoft.com/office/officeart/2005/8/layout/vList2"/>
    <dgm:cxn modelId="{B2F655D6-E248-47C2-83CD-A72B8338E70F}" type="presOf" srcId="{6BA39248-B5D1-4FFD-ABC3-9BDADE284265}" destId="{7E127073-C200-41D7-9BA5-571CEE9012AD}" srcOrd="0" destOrd="0" presId="urn:microsoft.com/office/officeart/2005/8/layout/vList2"/>
    <dgm:cxn modelId="{6A2A90D9-DD4F-427E-B2BE-E2642FFC03D6}" type="presOf" srcId="{4E3346C4-75C0-4F7D-8A3E-C38864DBB171}" destId="{72FAB38A-F6BA-4ACF-AF3F-A63DEEAAAC4F}" srcOrd="0" destOrd="0" presId="urn:microsoft.com/office/officeart/2005/8/layout/vList2"/>
    <dgm:cxn modelId="{03EAC7F8-5084-4D8E-9A06-A0A5AC5C2049}" type="presParOf" srcId="{F2D7FACA-71C7-48F4-9171-ADDF89242D6E}" destId="{72FAB38A-F6BA-4ACF-AF3F-A63DEEAAAC4F}" srcOrd="0" destOrd="0" presId="urn:microsoft.com/office/officeart/2005/8/layout/vList2"/>
    <dgm:cxn modelId="{74C68133-37CC-4FA4-9EB1-767AE08E56AC}" type="presParOf" srcId="{F2D7FACA-71C7-48F4-9171-ADDF89242D6E}" destId="{7813C3B5-2383-40C0-BCC8-88BB43FF330E}" srcOrd="1" destOrd="0" presId="urn:microsoft.com/office/officeart/2005/8/layout/vList2"/>
    <dgm:cxn modelId="{CA246B06-2B9F-468A-A854-67FD6EDA418D}" type="presParOf" srcId="{F2D7FACA-71C7-48F4-9171-ADDF89242D6E}" destId="{D0AB6777-250F-4A30-92F3-6FAADE9FAA67}" srcOrd="2" destOrd="0" presId="urn:microsoft.com/office/officeart/2005/8/layout/vList2"/>
    <dgm:cxn modelId="{28312A88-7327-4841-8E08-A3D265DF30AD}" type="presParOf" srcId="{F2D7FACA-71C7-48F4-9171-ADDF89242D6E}" destId="{7E127073-C200-41D7-9BA5-571CEE9012AD}" srcOrd="3"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79EC16-7C60-4679-AE21-C81CCC6ED84B}">
      <dsp:nvSpPr>
        <dsp:cNvPr id="0" name=""/>
        <dsp:cNvSpPr/>
      </dsp:nvSpPr>
      <dsp:spPr>
        <a:xfrm>
          <a:off x="0" y="506528"/>
          <a:ext cx="10515600" cy="8316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AC84E9-76B7-4E52-A088-C7F3A34F3CEB}">
      <dsp:nvSpPr>
        <dsp:cNvPr id="0" name=""/>
        <dsp:cNvSpPr/>
      </dsp:nvSpPr>
      <dsp:spPr>
        <a:xfrm>
          <a:off x="525780" y="19448"/>
          <a:ext cx="7360920" cy="97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b="1" kern="1200" dirty="0">
              <a:latin typeface="+mj-lt"/>
            </a:rPr>
            <a:t>Población de estudio u objetivo: </a:t>
          </a:r>
          <a:r>
            <a:rPr lang="es-EC" sz="1800" kern="1200" dirty="0">
              <a:latin typeface="+mj-lt"/>
            </a:rPr>
            <a:t>Los hogares y las personas que residen habitualmente en las viviendas particulares del Ecuador, tanto en el área urbana como en la rural.</a:t>
          </a:r>
          <a:endParaRPr lang="es-ES" sz="1800" kern="1200" dirty="0">
            <a:latin typeface="+mj-lt"/>
          </a:endParaRPr>
        </a:p>
      </dsp:txBody>
      <dsp:txXfrm>
        <a:off x="573335" y="67003"/>
        <a:ext cx="7265810" cy="879050"/>
      </dsp:txXfrm>
    </dsp:sp>
    <dsp:sp modelId="{BBE695CC-C755-412D-AE35-4563D4B15B80}">
      <dsp:nvSpPr>
        <dsp:cNvPr id="0" name=""/>
        <dsp:cNvSpPr/>
      </dsp:nvSpPr>
      <dsp:spPr>
        <a:xfrm>
          <a:off x="0" y="2003409"/>
          <a:ext cx="10515600" cy="8316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B835CD-A8D7-4D70-865A-0145EFA1CE08}">
      <dsp:nvSpPr>
        <dsp:cNvPr id="0" name=""/>
        <dsp:cNvSpPr/>
      </dsp:nvSpPr>
      <dsp:spPr>
        <a:xfrm>
          <a:off x="525780" y="1516329"/>
          <a:ext cx="7360920" cy="97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b="1" kern="1200" dirty="0">
              <a:latin typeface="+mj-lt"/>
            </a:rPr>
            <a:t>Unidad de análisis: </a:t>
          </a:r>
          <a:r>
            <a:rPr lang="es-EC" sz="1800" kern="1200" dirty="0">
              <a:latin typeface="+mj-lt"/>
            </a:rPr>
            <a:t>El hogar, para el estudio del ingreso corriente y el gasto de consumo; y la persona, como unidad base de recolección de la encuesta.</a:t>
          </a:r>
          <a:endParaRPr lang="es-ES" sz="1800" kern="1200" dirty="0">
            <a:latin typeface="+mj-lt"/>
          </a:endParaRPr>
        </a:p>
      </dsp:txBody>
      <dsp:txXfrm>
        <a:off x="573335" y="1563884"/>
        <a:ext cx="7265810" cy="879050"/>
      </dsp:txXfrm>
    </dsp:sp>
    <dsp:sp modelId="{18E3AAAE-4EC3-4D69-8A34-33E29B419752}">
      <dsp:nvSpPr>
        <dsp:cNvPr id="0" name=""/>
        <dsp:cNvSpPr/>
      </dsp:nvSpPr>
      <dsp:spPr>
        <a:xfrm>
          <a:off x="0" y="3500289"/>
          <a:ext cx="10515600" cy="8316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47FBF5-8020-4ED8-A491-7DA84368AE7A}">
      <dsp:nvSpPr>
        <dsp:cNvPr id="0" name=""/>
        <dsp:cNvSpPr/>
      </dsp:nvSpPr>
      <dsp:spPr>
        <a:xfrm>
          <a:off x="525780" y="3013209"/>
          <a:ext cx="7360920" cy="97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b="1" kern="1200" dirty="0">
              <a:latin typeface="+mj-lt"/>
            </a:rPr>
            <a:t>Tamaño muestral nacional: </a:t>
          </a:r>
          <a:r>
            <a:rPr lang="es-EC" sz="1800" kern="1200" dirty="0">
              <a:latin typeface="+mj-lt"/>
            </a:rPr>
            <a:t>Se encuestaron 35.398 hogares a nivel nacional, que representan (al expandir con el factor de ponderación) 5.461.665 hogares en todo el país.</a:t>
          </a:r>
          <a:endParaRPr lang="es-ES" sz="1800" kern="1200" dirty="0">
            <a:latin typeface="+mj-lt"/>
          </a:endParaRPr>
        </a:p>
      </dsp:txBody>
      <dsp:txXfrm>
        <a:off x="573335" y="3060764"/>
        <a:ext cx="7265810" cy="8790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AB38A-F6BA-4ACF-AF3F-A63DEEAAAC4F}">
      <dsp:nvSpPr>
        <dsp:cNvPr id="0" name=""/>
        <dsp:cNvSpPr/>
      </dsp:nvSpPr>
      <dsp:spPr>
        <a:xfrm>
          <a:off x="0" y="0"/>
          <a:ext cx="4342296" cy="10296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A: </a:t>
          </a:r>
          <a:r>
            <a:rPr lang="es-EC" sz="2800" kern="1200" dirty="0"/>
            <a:t>Territorio (Grupo)</a:t>
          </a:r>
          <a:endParaRPr lang="es-ES" sz="2800" kern="1200" dirty="0">
            <a:latin typeface="Century Gothic" panose="020B0502020202020204" pitchFamily="34" charset="0"/>
          </a:endParaRPr>
        </a:p>
      </dsp:txBody>
      <dsp:txXfrm>
        <a:off x="50261" y="50261"/>
        <a:ext cx="4241774" cy="929078"/>
      </dsp:txXfrm>
    </dsp:sp>
    <dsp:sp modelId="{7813C3B5-2383-40C0-BCC8-88BB43FF330E}">
      <dsp:nvSpPr>
        <dsp:cNvPr id="0" name=""/>
        <dsp:cNvSpPr/>
      </dsp:nvSpPr>
      <dsp:spPr>
        <a:xfrm>
          <a:off x="0" y="1077428"/>
          <a:ext cx="4342296"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S" sz="2000" kern="1200" dirty="0">
              <a:latin typeface="Century Gothic" panose="020B0502020202020204" pitchFamily="34" charset="0"/>
            </a:rPr>
            <a:t>Opciones de respuesta: </a:t>
          </a:r>
          <a:r>
            <a:rPr lang="es-EC" sz="2000" kern="1200" dirty="0"/>
            <a:t>Nacional, Región Sierra, Cantón Ambato, Provincia Sucumbíos, Provincia Carchi</a:t>
          </a:r>
          <a:endParaRPr lang="es-ES" sz="2000" kern="1200" dirty="0">
            <a:latin typeface="Century Gothic" panose="020B0502020202020204" pitchFamily="34" charset="0"/>
          </a:endParaRPr>
        </a:p>
      </dsp:txBody>
      <dsp:txXfrm>
        <a:off x="0" y="1077428"/>
        <a:ext cx="4342296" cy="993600"/>
      </dsp:txXfrm>
    </dsp:sp>
    <dsp:sp modelId="{D0AB6777-250F-4A30-92F3-6FAADE9FAA67}">
      <dsp:nvSpPr>
        <dsp:cNvPr id="0" name=""/>
        <dsp:cNvSpPr/>
      </dsp:nvSpPr>
      <dsp:spPr>
        <a:xfrm>
          <a:off x="0" y="2220320"/>
          <a:ext cx="4342296" cy="10296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B: </a:t>
          </a:r>
          <a:r>
            <a:rPr lang="es-EC" sz="2800" kern="1200" dirty="0"/>
            <a:t>Decil de ingreso per cápita</a:t>
          </a:r>
          <a:endParaRPr lang="es-ES" sz="2800" kern="1200" dirty="0">
            <a:latin typeface="Century Gothic" panose="020B0502020202020204" pitchFamily="34" charset="0"/>
          </a:endParaRPr>
        </a:p>
      </dsp:txBody>
      <dsp:txXfrm>
        <a:off x="50261" y="2270581"/>
        <a:ext cx="4241774" cy="929078"/>
      </dsp:txXfrm>
    </dsp:sp>
    <dsp:sp modelId="{7E127073-C200-41D7-9BA5-571CEE9012AD}">
      <dsp:nvSpPr>
        <dsp:cNvPr id="0" name=""/>
        <dsp:cNvSpPr/>
      </dsp:nvSpPr>
      <dsp:spPr>
        <a:xfrm>
          <a:off x="0" y="3249920"/>
          <a:ext cx="4342296" cy="57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C" sz="2000" kern="1200" dirty="0"/>
            <a:t>variable ordinal, 10 categorías (Decil 1 a Decil 10)</a:t>
          </a:r>
          <a:endParaRPr lang="es-ES" sz="2000" kern="1200" dirty="0">
            <a:latin typeface="Century Gothic" panose="020B0502020202020204" pitchFamily="34" charset="0"/>
          </a:endParaRPr>
        </a:p>
      </dsp:txBody>
      <dsp:txXfrm>
        <a:off x="0" y="3249920"/>
        <a:ext cx="4342296" cy="5796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AB38A-F6BA-4ACF-AF3F-A63DEEAAAC4F}">
      <dsp:nvSpPr>
        <dsp:cNvPr id="0" name=""/>
        <dsp:cNvSpPr/>
      </dsp:nvSpPr>
      <dsp:spPr>
        <a:xfrm>
          <a:off x="0" y="65233"/>
          <a:ext cx="4342296" cy="98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A: Ingreso corriente per cápita </a:t>
          </a:r>
        </a:p>
      </dsp:txBody>
      <dsp:txXfrm>
        <a:off x="47976" y="113209"/>
        <a:ext cx="4246344" cy="886848"/>
      </dsp:txXfrm>
    </dsp:sp>
    <dsp:sp modelId="{7813C3B5-2383-40C0-BCC8-88BB43FF330E}">
      <dsp:nvSpPr>
        <dsp:cNvPr id="0" name=""/>
        <dsp:cNvSpPr/>
      </dsp:nvSpPr>
      <dsp:spPr>
        <a:xfrm>
          <a:off x="0" y="1048033"/>
          <a:ext cx="4342296" cy="538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S" sz="2000" kern="1200" dirty="0">
              <a:latin typeface="Century Gothic" panose="020B0502020202020204" pitchFamily="34" charset="0"/>
            </a:rPr>
            <a:t>Soporte: Valores </a:t>
          </a:r>
          <a:r>
            <a:rPr lang="en-US" sz="2000" kern="1200" dirty="0">
              <a:latin typeface="Century Gothic" panose="020B0502020202020204" pitchFamily="34" charset="0"/>
            </a:rPr>
            <a:t>≥ 0, </a:t>
          </a:r>
          <a:r>
            <a:rPr lang="en-US" sz="2000" kern="1200" dirty="0" err="1">
              <a:latin typeface="Century Gothic" panose="020B0502020202020204" pitchFamily="34" charset="0"/>
            </a:rPr>
            <a:t>en</a:t>
          </a:r>
          <a:r>
            <a:rPr lang="en-US" sz="2000" kern="1200" dirty="0">
              <a:latin typeface="Century Gothic" panose="020B0502020202020204" pitchFamily="34" charset="0"/>
            </a:rPr>
            <a:t> </a:t>
          </a:r>
          <a:r>
            <a:rPr lang="en-US" sz="2000" kern="1200" dirty="0" err="1">
              <a:latin typeface="Century Gothic" panose="020B0502020202020204" pitchFamily="34" charset="0"/>
            </a:rPr>
            <a:t>dolares</a:t>
          </a:r>
          <a:r>
            <a:rPr lang="en-US" sz="2000" kern="1200" dirty="0">
              <a:latin typeface="Century Gothic" panose="020B0502020202020204" pitchFamily="34" charset="0"/>
            </a:rPr>
            <a:t> </a:t>
          </a:r>
          <a:r>
            <a:rPr lang="en-US" sz="2000" kern="1200" dirty="0" err="1">
              <a:latin typeface="Century Gothic" panose="020B0502020202020204" pitchFamily="34" charset="0"/>
            </a:rPr>
            <a:t>mensuales</a:t>
          </a:r>
          <a:endParaRPr lang="es-ES" sz="2000" kern="1200" dirty="0">
            <a:latin typeface="Century Gothic" panose="020B0502020202020204" pitchFamily="34" charset="0"/>
          </a:endParaRPr>
        </a:p>
      </dsp:txBody>
      <dsp:txXfrm>
        <a:off x="0" y="1048033"/>
        <a:ext cx="4342296" cy="538200"/>
      </dsp:txXfrm>
    </dsp:sp>
    <dsp:sp modelId="{D0AB6777-250F-4A30-92F3-6FAADE9FAA67}">
      <dsp:nvSpPr>
        <dsp:cNvPr id="0" name=""/>
        <dsp:cNvSpPr/>
      </dsp:nvSpPr>
      <dsp:spPr>
        <a:xfrm>
          <a:off x="0" y="1586233"/>
          <a:ext cx="4342296" cy="98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B: </a:t>
          </a:r>
          <a:r>
            <a:rPr lang="en-US" sz="2800" kern="1200" dirty="0" err="1">
              <a:latin typeface="Century Gothic" panose="020B0502020202020204" pitchFamily="34" charset="0"/>
            </a:rPr>
            <a:t>Gasto</a:t>
          </a:r>
          <a:r>
            <a:rPr lang="en-US" sz="2800" kern="1200" dirty="0">
              <a:latin typeface="Century Gothic" panose="020B0502020202020204" pitchFamily="34" charset="0"/>
            </a:rPr>
            <a:t> </a:t>
          </a:r>
          <a:r>
            <a:rPr lang="en-US" sz="2800" kern="1200" dirty="0" err="1">
              <a:latin typeface="Century Gothic" panose="020B0502020202020204" pitchFamily="34" charset="0"/>
            </a:rPr>
            <a:t>corriente</a:t>
          </a:r>
          <a:r>
            <a:rPr lang="en-US" sz="2800" kern="1200" dirty="0">
              <a:latin typeface="Century Gothic" panose="020B0502020202020204" pitchFamily="34" charset="0"/>
            </a:rPr>
            <a:t> de </a:t>
          </a:r>
          <a:r>
            <a:rPr lang="en-US" sz="2800" kern="1200" dirty="0" err="1">
              <a:latin typeface="Century Gothic" panose="020B0502020202020204" pitchFamily="34" charset="0"/>
            </a:rPr>
            <a:t>consumo</a:t>
          </a:r>
          <a:endParaRPr lang="es-ES" sz="2800" kern="1200" dirty="0">
            <a:latin typeface="Century Gothic" panose="020B0502020202020204" pitchFamily="34" charset="0"/>
          </a:endParaRPr>
        </a:p>
      </dsp:txBody>
      <dsp:txXfrm>
        <a:off x="47976" y="1634209"/>
        <a:ext cx="4246344" cy="886848"/>
      </dsp:txXfrm>
    </dsp:sp>
    <dsp:sp modelId="{7E127073-C200-41D7-9BA5-571CEE9012AD}">
      <dsp:nvSpPr>
        <dsp:cNvPr id="0" name=""/>
        <dsp:cNvSpPr/>
      </dsp:nvSpPr>
      <dsp:spPr>
        <a:xfrm>
          <a:off x="0" y="2569034"/>
          <a:ext cx="4342296" cy="972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S" sz="2000" kern="1200" dirty="0">
              <a:latin typeface="Century Gothic" panose="020B0502020202020204" pitchFamily="34" charset="0"/>
            </a:rPr>
            <a:t>Soporte: </a:t>
          </a:r>
          <a:r>
            <a:rPr lang="es-MX" sz="2000" kern="1200" dirty="0">
              <a:latin typeface="Century Gothic" panose="020B0502020202020204" pitchFamily="34" charset="0"/>
            </a:rPr>
            <a:t>valores ≥ 0, en dólares (USD) mensuales</a:t>
          </a:r>
          <a:endParaRPr lang="es-ES" sz="2000" kern="1200" dirty="0">
            <a:latin typeface="Century Gothic" panose="020B0502020202020204" pitchFamily="34" charset="0"/>
          </a:endParaRPr>
        </a:p>
        <a:p>
          <a:pPr marL="228600" lvl="1" indent="-228600" algn="l" defTabSz="889000">
            <a:lnSpc>
              <a:spcPct val="90000"/>
            </a:lnSpc>
            <a:spcBef>
              <a:spcPct val="0"/>
            </a:spcBef>
            <a:spcAft>
              <a:spcPct val="20000"/>
            </a:spcAft>
            <a:buChar char="•"/>
          </a:pPr>
          <a:endParaRPr lang="es-ES" sz="2000" kern="1200" dirty="0">
            <a:latin typeface="Century Gothic" panose="020B0502020202020204" pitchFamily="34" charset="0"/>
          </a:endParaRPr>
        </a:p>
      </dsp:txBody>
      <dsp:txXfrm>
        <a:off x="0" y="2569034"/>
        <a:ext cx="4342296" cy="9729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23.643"/>
    </inkml:context>
    <inkml:brush xml:id="br0">
      <inkml:brushProperty name="width" value="0.05" units="cm"/>
      <inkml:brushProperty name="height" value="0.05" units="cm"/>
      <inkml:brushProperty name="color" value="#FFFFFF"/>
    </inkml:brush>
  </inkml:definitions>
  <inkml:trace contextRef="#ctx0" brushRef="#br0">2 208 24466,'103'155'0,"-103"-517"0,-25 362 0,-53 207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12.331"/>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15.258"/>
    </inkml:context>
    <inkml:brush xml:id="br0">
      <inkml:brushProperty name="width" value="0.05" units="cm"/>
      <inkml:brushProperty name="height" value="0.05" units="cm"/>
      <inkml:brushProperty name="color" value="#FFFFFF"/>
    </inkml:brush>
  </inkml:definitions>
  <inkml:trace contextRef="#ctx0" brushRef="#br0">0 1 24575,'0'4'0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35.317"/>
    </inkml:context>
    <inkml:brush xml:id="br0">
      <inkml:brushProperty name="width" value="0.05" units="cm"/>
      <inkml:brushProperty name="height" value="0.05" units="cm"/>
      <inkml:brushProperty name="color" value="#FFFFFF"/>
    </inkml:brush>
  </inkml:definitions>
  <inkml:trace contextRef="#ctx0" brushRef="#br0">0 21 24575,'5'0'0,"9"0"0,8 0 0,0-9 0,-5-3-8191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36.022"/>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36.705"/>
    </inkml:context>
    <inkml:brush xml:id="br0">
      <inkml:brushProperty name="width" value="0.05" units="cm"/>
      <inkml:brushProperty name="height" value="0.05" units="cm"/>
      <inkml:brushProperty name="color" value="#FFFFFF"/>
    </inkml:brush>
  </inkml:definitions>
  <inkml:trace contextRef="#ctx0" brushRef="#br0">21 1 24575,'-9'9'0,"-3"3"-8191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37.342"/>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38.454"/>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40.021"/>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40.568"/>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41.393"/>
    </inkml:context>
    <inkml:brush xml:id="br0">
      <inkml:brushProperty name="width" value="0.05" units="cm"/>
      <inkml:brushProperty name="height" value="0.05" units="cm"/>
      <inkml:brushProperty name="color" value="#FFFFFF"/>
    </inkml:brush>
  </inkml:definitions>
  <inkml:trace contextRef="#ctx0" brushRef="#br0">83 0 24575,'0'9'0,"-9"3"0,-11 4 0,-7-2 0,0-2-8191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42.607"/>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43.139"/>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2:45.304"/>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8:53.726"/>
    </inkml:context>
    <inkml:brush xml:id="br0">
      <inkml:brushProperty name="width" value="0.05" units="cm"/>
      <inkml:brushProperty name="height" value="0.05" units="cm"/>
      <inkml:brushProperty name="color" value="#FFFFFF"/>
    </inkml:brush>
  </inkml:definitions>
  <inkml:trace contextRef="#ctx0" brushRef="#br0">0 0 24575,'9'0'0,"3"0"-8191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05:58:54.869"/>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16/9/2026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14958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16/9/2026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911491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6DE43005-D9CE-4B82-8009-C395EF4A0584}" type="datetimeFigureOut">
              <a:rPr lang="es-EC" smtClean="0"/>
              <a:t>16/9/2026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4266520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p:cNvSpPr>
            <a:spLocks noGrp="1"/>
          </p:cNvSpPr>
          <p:nvPr>
            <p:ph type="dt" sz="half" idx="10"/>
          </p:nvPr>
        </p:nvSpPr>
        <p:spPr/>
        <p:txBody>
          <a:bodyPr/>
          <a:lstStyle/>
          <a:p>
            <a:fld id="{6DE43005-D9CE-4B82-8009-C395EF4A0584}" type="datetimeFigureOut">
              <a:rPr lang="es-EC" smtClean="0"/>
              <a:t>16/9/2026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98557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p:cNvSpPr>
            <a:spLocks noGrp="1"/>
          </p:cNvSpPr>
          <p:nvPr>
            <p:ph type="dt" sz="half" idx="10"/>
          </p:nvPr>
        </p:nvSpPr>
        <p:spPr/>
        <p:txBody>
          <a:bodyPr/>
          <a:lstStyle/>
          <a:p>
            <a:fld id="{6DE43005-D9CE-4B82-8009-C395EF4A0584}" type="datetimeFigureOut">
              <a:rPr lang="es-EC" smtClean="0"/>
              <a:t>16/9/2026</a:t>
            </a:fld>
            <a:endParaRPr lang="es-EC"/>
          </a:p>
        </p:txBody>
      </p:sp>
      <p:sp>
        <p:nvSpPr>
          <p:cNvPr id="8" name="Marcador de pie de página 7"/>
          <p:cNvSpPr>
            <a:spLocks noGrp="1"/>
          </p:cNvSpPr>
          <p:nvPr>
            <p:ph type="ftr" sz="quarter" idx="11"/>
          </p:nvPr>
        </p:nvSpPr>
        <p:spPr/>
        <p:txBody>
          <a:bodyPr/>
          <a:lstStyle/>
          <a:p>
            <a:endParaRPr lang="es-EC"/>
          </a:p>
        </p:txBody>
      </p:sp>
      <p:sp>
        <p:nvSpPr>
          <p:cNvPr id="9" name="Marcador de número de diapositiva 8"/>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3695128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fecha 2"/>
          <p:cNvSpPr>
            <a:spLocks noGrp="1"/>
          </p:cNvSpPr>
          <p:nvPr>
            <p:ph type="dt" sz="half" idx="10"/>
          </p:nvPr>
        </p:nvSpPr>
        <p:spPr/>
        <p:txBody>
          <a:bodyPr/>
          <a:lstStyle/>
          <a:p>
            <a:fld id="{6DE43005-D9CE-4B82-8009-C395EF4A0584}" type="datetimeFigureOut">
              <a:rPr lang="es-EC" smtClean="0"/>
              <a:t>16/9/2026</a:t>
            </a:fld>
            <a:endParaRPr lang="es-EC"/>
          </a:p>
        </p:txBody>
      </p:sp>
      <p:sp>
        <p:nvSpPr>
          <p:cNvPr id="4" name="Marcador de pie de página 3"/>
          <p:cNvSpPr>
            <a:spLocks noGrp="1"/>
          </p:cNvSpPr>
          <p:nvPr>
            <p:ph type="ftr" sz="quarter" idx="11"/>
          </p:nvPr>
        </p:nvSpPr>
        <p:spPr/>
        <p:txBody>
          <a:bodyPr/>
          <a:lstStyle/>
          <a:p>
            <a:endParaRPr lang="es-EC"/>
          </a:p>
        </p:txBody>
      </p:sp>
      <p:sp>
        <p:nvSpPr>
          <p:cNvPr id="5" name="Marcador de número de diapositiva 4"/>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1535311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DE43005-D9CE-4B82-8009-C395EF4A0584}" type="datetimeFigureOut">
              <a:rPr lang="es-EC" smtClean="0"/>
              <a:t>16/9/2026</a:t>
            </a:fld>
            <a:endParaRPr lang="es-EC"/>
          </a:p>
        </p:txBody>
      </p:sp>
      <p:sp>
        <p:nvSpPr>
          <p:cNvPr id="3" name="Marcador de pie de página 2"/>
          <p:cNvSpPr>
            <a:spLocks noGrp="1"/>
          </p:cNvSpPr>
          <p:nvPr>
            <p:ph type="ftr" sz="quarter" idx="11"/>
          </p:nvPr>
        </p:nvSpPr>
        <p:spPr/>
        <p:txBody>
          <a:bodyPr/>
          <a:lstStyle/>
          <a:p>
            <a:endParaRPr lang="es-EC"/>
          </a:p>
        </p:txBody>
      </p:sp>
      <p:sp>
        <p:nvSpPr>
          <p:cNvPr id="4" name="Marcador de número de diapositiva 3"/>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3078125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DE43005-D9CE-4B82-8009-C395EF4A0584}" type="datetimeFigureOut">
              <a:rPr lang="es-EC" smtClean="0"/>
              <a:t>16/9/2026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800054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DE43005-D9CE-4B82-8009-C395EF4A0584}" type="datetimeFigureOut">
              <a:rPr lang="es-EC" smtClean="0"/>
              <a:t>16/9/2026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709274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16/9/2026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3813427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16/9/2026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128899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43005-D9CE-4B82-8009-C395EF4A0584}" type="datetimeFigureOut">
              <a:rPr lang="es-EC" smtClean="0"/>
              <a:t>16/9/2026</a:t>
            </a:fld>
            <a:endParaRPr lang="es-EC"/>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C48CD1-0E74-4560-9D53-21CBB9951217}" type="slidenum">
              <a:rPr lang="es-EC" smtClean="0"/>
              <a:t>‹Nº›</a:t>
            </a:fld>
            <a:endParaRPr lang="es-EC"/>
          </a:p>
        </p:txBody>
      </p:sp>
    </p:spTree>
    <p:extLst>
      <p:ext uri="{BB962C8B-B14F-4D97-AF65-F5344CB8AC3E}">
        <p14:creationId xmlns:p14="http://schemas.microsoft.com/office/powerpoint/2010/main" val="1790420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7.xml"/><Relationship Id="rId18" Type="http://schemas.openxmlformats.org/officeDocument/2006/relationships/image" Target="../media/image8.png"/><Relationship Id="rId3" Type="http://schemas.openxmlformats.org/officeDocument/2006/relationships/customXml" Target="../ink/ink1.xml"/><Relationship Id="rId21" Type="http://schemas.openxmlformats.org/officeDocument/2006/relationships/customXml" Target="../ink/ink14.xml"/><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11.xml"/><Relationship Id="rId2" Type="http://schemas.openxmlformats.org/officeDocument/2006/relationships/image" Target="../media/image3.png"/><Relationship Id="rId16" Type="http://schemas.openxmlformats.org/officeDocument/2006/relationships/customXml" Target="../ink/ink10.xml"/><Relationship Id="rId20" Type="http://schemas.openxmlformats.org/officeDocument/2006/relationships/customXml" Target="../ink/ink13.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6.xml"/><Relationship Id="rId24" Type="http://schemas.openxmlformats.org/officeDocument/2006/relationships/customXml" Target="../ink/ink16.xml"/><Relationship Id="rId5" Type="http://schemas.openxmlformats.org/officeDocument/2006/relationships/customXml" Target="../ink/ink2.xml"/><Relationship Id="rId15" Type="http://schemas.openxmlformats.org/officeDocument/2006/relationships/customXml" Target="../ink/ink9.xml"/><Relationship Id="rId23" Type="http://schemas.openxmlformats.org/officeDocument/2006/relationships/image" Target="../media/image9.png"/><Relationship Id="rId10" Type="http://schemas.openxmlformats.org/officeDocument/2006/relationships/customXml" Target="../ink/ink5.xml"/><Relationship Id="rId19" Type="http://schemas.openxmlformats.org/officeDocument/2006/relationships/customXml" Target="../ink/ink12.xml"/><Relationship Id="rId4" Type="http://schemas.openxmlformats.org/officeDocument/2006/relationships/image" Target="../media/image4.png"/><Relationship Id="rId9" Type="http://schemas.openxmlformats.org/officeDocument/2006/relationships/image" Target="../media/image6.png"/><Relationship Id="rId14" Type="http://schemas.openxmlformats.org/officeDocument/2006/relationships/customXml" Target="../ink/ink8.xml"/><Relationship Id="rId22" Type="http://schemas.openxmlformats.org/officeDocument/2006/relationships/customXml" Target="../ink/ink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43153" y="1524808"/>
            <a:ext cx="5246440" cy="3284902"/>
          </a:xfrm>
        </p:spPr>
        <p:txBody>
          <a:bodyPr>
            <a:normAutofit fontScale="90000"/>
          </a:bodyPr>
          <a:lstStyle/>
          <a:p>
            <a:pPr algn="ctr"/>
            <a:r>
              <a:rPr lang="es-EC" sz="4800" dirty="0"/>
              <a:t>Ingreso y gasto de los hogares en Ecuador: comparación entre el nivel nacional, la Región Sierra, el Cantón Ambato y las provincias de Sucumbíos y Carchi</a:t>
            </a:r>
            <a:endParaRPr lang="es-EC" sz="4800" dirty="0">
              <a:latin typeface="Century Gothic" panose="020B0502020202020204" pitchFamily="34" charset="0"/>
            </a:endParaRPr>
          </a:p>
        </p:txBody>
      </p:sp>
      <p:pic>
        <p:nvPicPr>
          <p:cNvPr id="5" name="Imagen 4">
            <a:extLst>
              <a:ext uri="{FF2B5EF4-FFF2-40B4-BE49-F238E27FC236}">
                <a16:creationId xmlns:a16="http://schemas.microsoft.com/office/drawing/2014/main" id="{226947A8-C292-4F46-A049-5F67D8466E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5872419" cy="6560091"/>
          </a:xfrm>
          <a:prstGeom prst="rect">
            <a:avLst/>
          </a:prstGeom>
        </p:spPr>
      </p:pic>
    </p:spTree>
    <p:extLst>
      <p:ext uri="{BB962C8B-B14F-4D97-AF65-F5344CB8AC3E}">
        <p14:creationId xmlns:p14="http://schemas.microsoft.com/office/powerpoint/2010/main" val="4099154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a:extLst>
              <a:ext uri="{FF2B5EF4-FFF2-40B4-BE49-F238E27FC236}">
                <a16:creationId xmlns:a16="http://schemas.microsoft.com/office/drawing/2014/main" id="{27490FCF-0E57-DCF3-FCC6-7CBAAFA2F3CD}"/>
              </a:ext>
            </a:extLst>
          </p:cNvPr>
          <p:cNvGraphicFramePr>
            <a:graphicFrameLocks noChangeAspect="1"/>
          </p:cNvGraphicFramePr>
          <p:nvPr>
            <p:extLst>
              <p:ext uri="{D42A27DB-BD31-4B8C-83A1-F6EECF244321}">
                <p14:modId xmlns:p14="http://schemas.microsoft.com/office/powerpoint/2010/main" val="1935819665"/>
              </p:ext>
            </p:extLst>
          </p:nvPr>
        </p:nvGraphicFramePr>
        <p:xfrm>
          <a:off x="2737207" y="1828703"/>
          <a:ext cx="6289675" cy="2425700"/>
        </p:xfrm>
        <a:graphic>
          <a:graphicData uri="http://schemas.openxmlformats.org/presentationml/2006/ole">
            <mc:AlternateContent xmlns:mc="http://schemas.openxmlformats.org/markup-compatibility/2006">
              <mc:Choice xmlns:v="urn:schemas-microsoft-com:vml" Requires="v">
                <p:oleObj name="Worksheet" r:id="rId2" imgW="2865262" imgH="1104813" progId="Excel.Sheet.12">
                  <p:embed/>
                </p:oleObj>
              </mc:Choice>
              <mc:Fallback>
                <p:oleObj name="Worksheet" r:id="rId2" imgW="2865262" imgH="1104813" progId="Excel.Sheet.12">
                  <p:embed/>
                  <p:pic>
                    <p:nvPicPr>
                      <p:cNvPr id="0" name=""/>
                      <p:cNvPicPr/>
                      <p:nvPr/>
                    </p:nvPicPr>
                    <p:blipFill>
                      <a:blip r:embed="rId3"/>
                      <a:stretch>
                        <a:fillRect/>
                      </a:stretch>
                    </p:blipFill>
                    <p:spPr>
                      <a:xfrm>
                        <a:off x="2737207" y="1828703"/>
                        <a:ext cx="6289675" cy="2425700"/>
                      </a:xfrm>
                      <a:prstGeom prst="rect">
                        <a:avLst/>
                      </a:prstGeom>
                    </p:spPr>
                  </p:pic>
                </p:oleObj>
              </mc:Fallback>
            </mc:AlternateContent>
          </a:graphicData>
        </a:graphic>
      </p:graphicFrame>
      <p:sp>
        <p:nvSpPr>
          <p:cNvPr id="2" name="CuadroTexto 1">
            <a:extLst>
              <a:ext uri="{FF2B5EF4-FFF2-40B4-BE49-F238E27FC236}">
                <a16:creationId xmlns:a16="http://schemas.microsoft.com/office/drawing/2014/main" id="{B92FEB03-AF3B-9F40-A805-DC5CB2798A9A}"/>
              </a:ext>
            </a:extLst>
          </p:cNvPr>
          <p:cNvSpPr txBox="1"/>
          <p:nvPr/>
        </p:nvSpPr>
        <p:spPr>
          <a:xfrm>
            <a:off x="2453951" y="839755"/>
            <a:ext cx="6665671" cy="523220"/>
          </a:xfrm>
          <a:prstGeom prst="rect">
            <a:avLst/>
          </a:prstGeom>
          <a:noFill/>
        </p:spPr>
        <p:txBody>
          <a:bodyPr wrap="none" rtlCol="0">
            <a:spAutoFit/>
          </a:bodyPr>
          <a:lstStyle/>
          <a:p>
            <a:r>
              <a:rPr lang="es-EC" sz="2800" b="1" dirty="0"/>
              <a:t>Territorios y Tamaño Muestral del Grupo 12</a:t>
            </a:r>
          </a:p>
        </p:txBody>
      </p:sp>
    </p:spTree>
    <p:extLst>
      <p:ext uri="{BB962C8B-B14F-4D97-AF65-F5344CB8AC3E}">
        <p14:creationId xmlns:p14="http://schemas.microsoft.com/office/powerpoint/2010/main" val="1679910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FEB2B-AE0D-3C0C-28AB-07CDF2C8F3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940D4E-BB69-F230-6506-150203470CD5}"/>
              </a:ext>
            </a:extLst>
          </p:cNvPr>
          <p:cNvSpPr>
            <a:spLocks noGrp="1"/>
          </p:cNvSpPr>
          <p:nvPr>
            <p:ph type="title"/>
          </p:nvPr>
        </p:nvSpPr>
        <p:spPr/>
        <p:txBody>
          <a:bodyPr>
            <a:noAutofit/>
          </a:bodyPr>
          <a:lstStyle/>
          <a:p>
            <a:pPr algn="ctr"/>
            <a:r>
              <a:rPr lang="es-MX" sz="2000" b="1" dirty="0"/>
              <a:t>Análisis: </a:t>
            </a:r>
            <a:r>
              <a:rPr lang="es-EC" sz="2000" dirty="0"/>
              <a:t>Tabla de Territorios y Tamaño Muestral:</a:t>
            </a:r>
            <a:endParaRPr lang="es-EC" sz="2000" b="1" dirty="0"/>
          </a:p>
        </p:txBody>
      </p:sp>
      <p:sp>
        <p:nvSpPr>
          <p:cNvPr id="4" name="CuadroTexto 3">
            <a:extLst>
              <a:ext uri="{FF2B5EF4-FFF2-40B4-BE49-F238E27FC236}">
                <a16:creationId xmlns:a16="http://schemas.microsoft.com/office/drawing/2014/main" id="{429FC063-F4A2-59C4-C600-42F29AF0BEAB}"/>
              </a:ext>
            </a:extLst>
          </p:cNvPr>
          <p:cNvSpPr txBox="1"/>
          <p:nvPr/>
        </p:nvSpPr>
        <p:spPr>
          <a:xfrm>
            <a:off x="1777218" y="1925516"/>
            <a:ext cx="8637563" cy="3139321"/>
          </a:xfrm>
          <a:prstGeom prst="rect">
            <a:avLst/>
          </a:prstGeom>
          <a:noFill/>
          <a:ln>
            <a:solidFill>
              <a:schemeClr val="tx1"/>
            </a:solidFill>
          </a:ln>
        </p:spPr>
        <p:txBody>
          <a:bodyPr wrap="square" rtlCol="0">
            <a:spAutoFit/>
          </a:bodyPr>
          <a:lstStyle/>
          <a:p>
            <a:r>
              <a:rPr lang="es-EC" dirty="0">
                <a:latin typeface="+mj-lt"/>
              </a:rPr>
              <a:t>El Grupo 12 combina territorios de distinta escala administrativa. La muestra nacional incluye 35.398 hogares encuestados, que representan 5.461.664 hogares a nivel país. Región Sierra concentra la mayor muestra territorial (17.049 hogares, equivalentes a 2.462.848 hogares expandidos), reflejo de ser una región con varias provincias. En contraste, los territorios más específicos tienen muestras considerablemente menores: Cantón Ambato (1.455 hogares), Provincia Carchi (900) y Provincia Sucumbíos (801), este último con la muestra más pequeña del grupo. Esta diferencia en tamaño muestral explica por qué los territorios más chicos (Ambato, Sucumbíos, Carchi) presentan mayor error estándar y coeficiente de variación en las estimaciones de ingreso, como se observa en la tabla de medidas estadísticas.</a:t>
            </a:r>
            <a:br>
              <a:rPr lang="es-EC" dirty="0">
                <a:latin typeface="+mj-lt"/>
              </a:rPr>
            </a:br>
            <a:r>
              <a:rPr lang="es-EC" dirty="0">
                <a:latin typeface="+mj-lt"/>
              </a:rPr>
              <a:t>Fuente: INEC (2026). ENIGHUR 2024-2025. Elaboración propia.</a:t>
            </a:r>
          </a:p>
        </p:txBody>
      </p:sp>
    </p:spTree>
    <p:extLst>
      <p:ext uri="{BB962C8B-B14F-4D97-AF65-F5344CB8AC3E}">
        <p14:creationId xmlns:p14="http://schemas.microsoft.com/office/powerpoint/2010/main" val="4255214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995973" y="402447"/>
            <a:ext cx="8200054" cy="1325563"/>
          </a:xfrm>
        </p:spPr>
        <p:txBody>
          <a:bodyPr>
            <a:normAutofit/>
          </a:bodyPr>
          <a:lstStyle/>
          <a:p>
            <a:pPr algn="r"/>
            <a:r>
              <a:rPr lang="es-MX" sz="2800" b="1" dirty="0"/>
              <a:t>ENIGHUR – Encuesta Nacional de Ingresos y Gasto</a:t>
            </a:r>
            <a:endParaRPr lang="es-EC" sz="2800"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988757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9769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19E29-6203-07B7-83E1-7B12623B85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0BEBD4-64BB-4353-D366-D2692ADF990D}"/>
              </a:ext>
            </a:extLst>
          </p:cNvPr>
          <p:cNvSpPr>
            <a:spLocks noGrp="1"/>
          </p:cNvSpPr>
          <p:nvPr>
            <p:ph type="title"/>
          </p:nvPr>
        </p:nvSpPr>
        <p:spPr>
          <a:xfrm>
            <a:off x="2112606" y="850317"/>
            <a:ext cx="7966788" cy="1325563"/>
          </a:xfrm>
        </p:spPr>
        <p:txBody>
          <a:bodyPr>
            <a:normAutofit/>
          </a:bodyPr>
          <a:lstStyle/>
          <a:p>
            <a:pPr algn="r"/>
            <a:r>
              <a:rPr lang="es-MX" sz="2800" b="1" dirty="0"/>
              <a:t>ENIGHUR – Encuesta Nacional de Ingresos y Gasto</a:t>
            </a:r>
            <a:endParaRPr lang="es-EC" sz="2800" b="1" dirty="0"/>
          </a:p>
        </p:txBody>
      </p:sp>
      <p:sp>
        <p:nvSpPr>
          <p:cNvPr id="10" name="CuadroTexto 9">
            <a:extLst>
              <a:ext uri="{FF2B5EF4-FFF2-40B4-BE49-F238E27FC236}">
                <a16:creationId xmlns:a16="http://schemas.microsoft.com/office/drawing/2014/main" id="{F9DF3EEA-D790-29B4-4442-C9C12AA82122}"/>
              </a:ext>
            </a:extLst>
          </p:cNvPr>
          <p:cNvSpPr txBox="1"/>
          <p:nvPr/>
        </p:nvSpPr>
        <p:spPr>
          <a:xfrm>
            <a:off x="2743200" y="2551837"/>
            <a:ext cx="7648889" cy="1754326"/>
          </a:xfrm>
          <a:prstGeom prst="rect">
            <a:avLst/>
          </a:prstGeom>
          <a:noFill/>
        </p:spPr>
        <p:txBody>
          <a:bodyPr wrap="none" rtlCol="0">
            <a:spAutoFit/>
          </a:bodyPr>
          <a:lstStyle/>
          <a:p>
            <a:r>
              <a:rPr lang="es-EC" b="1" dirty="0">
                <a:latin typeface="+mj-lt"/>
              </a:rPr>
              <a:t>Tamaño muestral de los territorios asignados (Grupo 12):</a:t>
            </a:r>
            <a:endParaRPr lang="es-EC" dirty="0">
              <a:latin typeface="+mj-lt"/>
            </a:endParaRPr>
          </a:p>
          <a:p>
            <a:pPr marL="285750" lvl="0" indent="-285750">
              <a:buFont typeface="Arial" panose="020B0604020202020204" pitchFamily="34" charset="0"/>
              <a:buChar char="•"/>
            </a:pPr>
            <a:r>
              <a:rPr lang="es-EC" dirty="0">
                <a:latin typeface="+mj-lt"/>
              </a:rPr>
              <a:t>Región Sierra: 17.049 hogares encuestados (2.462.848 hogares expandidos)</a:t>
            </a:r>
          </a:p>
          <a:p>
            <a:pPr marL="285750" lvl="0" indent="-285750">
              <a:buFont typeface="Arial" panose="020B0604020202020204" pitchFamily="34" charset="0"/>
              <a:buChar char="•"/>
            </a:pPr>
            <a:r>
              <a:rPr lang="es-EC" dirty="0">
                <a:latin typeface="+mj-lt"/>
              </a:rPr>
              <a:t>Cantón Ambato: 1.455 hogares encuestados (121.873 hogares expandidos)</a:t>
            </a:r>
          </a:p>
          <a:p>
            <a:pPr marL="285750" lvl="0" indent="-285750">
              <a:buFont typeface="Arial" panose="020B0604020202020204" pitchFamily="34" charset="0"/>
              <a:buChar char="•"/>
            </a:pPr>
            <a:r>
              <a:rPr lang="es-EC" dirty="0">
                <a:latin typeface="+mj-lt"/>
              </a:rPr>
              <a:t>Provincia Sucumbíos: 801 hogares encuestados (62.425 hogares expandidos)</a:t>
            </a:r>
          </a:p>
          <a:p>
            <a:pPr marL="285750" lvl="0" indent="-285750">
              <a:buFont typeface="Arial" panose="020B0604020202020204" pitchFamily="34" charset="0"/>
              <a:buChar char="•"/>
            </a:pPr>
            <a:r>
              <a:rPr lang="es-EC" dirty="0">
                <a:latin typeface="+mj-lt"/>
              </a:rPr>
              <a:t>Provincia Carchi: 900 hogares encuestados (55.150 hogares expandidos)</a:t>
            </a:r>
          </a:p>
          <a:p>
            <a:endParaRPr lang="es-EC" dirty="0"/>
          </a:p>
        </p:txBody>
      </p:sp>
    </p:spTree>
    <p:extLst>
      <p:ext uri="{BB962C8B-B14F-4D97-AF65-F5344CB8AC3E}">
        <p14:creationId xmlns:p14="http://schemas.microsoft.com/office/powerpoint/2010/main" val="2432093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a 5"/>
          <p:cNvGraphicFramePr/>
          <p:nvPr>
            <p:extLst>
              <p:ext uri="{D42A27DB-BD31-4B8C-83A1-F6EECF244321}">
                <p14:modId xmlns:p14="http://schemas.microsoft.com/office/powerpoint/2010/main" val="2149121777"/>
              </p:ext>
            </p:extLst>
          </p:nvPr>
        </p:nvGraphicFramePr>
        <p:xfrm>
          <a:off x="1369393" y="2164702"/>
          <a:ext cx="4342296" cy="4026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a 6"/>
          <p:cNvGraphicFramePr/>
          <p:nvPr>
            <p:extLst>
              <p:ext uri="{D42A27DB-BD31-4B8C-83A1-F6EECF244321}">
                <p14:modId xmlns:p14="http://schemas.microsoft.com/office/powerpoint/2010/main" val="41092620"/>
              </p:ext>
            </p:extLst>
          </p:nvPr>
        </p:nvGraphicFramePr>
        <p:xfrm>
          <a:off x="6904067" y="2164702"/>
          <a:ext cx="4342296" cy="360716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Título 1"/>
          <p:cNvSpPr txBox="1">
            <a:spLocks/>
          </p:cNvSpPr>
          <p:nvPr/>
        </p:nvSpPr>
        <p:spPr>
          <a:xfrm>
            <a:off x="1136927" y="1266275"/>
            <a:ext cx="4807228" cy="11191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latin typeface="Century Gothic" panose="020B0502020202020204" pitchFamily="34" charset="0"/>
              </a:rPr>
              <a:t>Variables cualitativas:</a:t>
            </a:r>
            <a:endParaRPr lang="es-EC" sz="3200" dirty="0">
              <a:latin typeface="Century Gothic" panose="020B0502020202020204" pitchFamily="34" charset="0"/>
            </a:endParaRPr>
          </a:p>
        </p:txBody>
      </p:sp>
      <p:sp>
        <p:nvSpPr>
          <p:cNvPr id="9" name="Título 1"/>
          <p:cNvSpPr txBox="1">
            <a:spLocks/>
          </p:cNvSpPr>
          <p:nvPr/>
        </p:nvSpPr>
        <p:spPr>
          <a:xfrm>
            <a:off x="6569764" y="1266275"/>
            <a:ext cx="4807228" cy="11191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latin typeface="Century Gothic" panose="020B0502020202020204" pitchFamily="34" charset="0"/>
              </a:rPr>
              <a:t>Variables cuantitativas:</a:t>
            </a:r>
            <a:endParaRPr lang="es-EC" sz="3200" dirty="0">
              <a:latin typeface="Century Gothic" panose="020B0502020202020204" pitchFamily="34" charset="0"/>
            </a:endParaRPr>
          </a:p>
        </p:txBody>
      </p:sp>
      <p:sp>
        <p:nvSpPr>
          <p:cNvPr id="11" name="CuadroTexto 10"/>
          <p:cNvSpPr txBox="1"/>
          <p:nvPr/>
        </p:nvSpPr>
        <p:spPr>
          <a:xfrm>
            <a:off x="1136927" y="482719"/>
            <a:ext cx="3922643" cy="584775"/>
          </a:xfrm>
          <a:prstGeom prst="rect">
            <a:avLst/>
          </a:prstGeom>
          <a:noFill/>
        </p:spPr>
        <p:txBody>
          <a:bodyPr wrap="square" rtlCol="0">
            <a:spAutoFit/>
          </a:bodyPr>
          <a:lstStyle/>
          <a:p>
            <a:r>
              <a:rPr lang="es-MX" sz="3200" b="1" dirty="0">
                <a:latin typeface="Century Gothic" panose="020B0502020202020204" pitchFamily="34" charset="0"/>
              </a:rPr>
              <a:t>Variables</a:t>
            </a:r>
            <a:endParaRPr lang="es-EC" sz="3200" b="1" dirty="0">
              <a:latin typeface="Century Gothic" panose="020B0502020202020204" pitchFamily="34" charset="0"/>
            </a:endParaRPr>
          </a:p>
        </p:txBody>
      </p:sp>
    </p:spTree>
    <p:extLst>
      <p:ext uri="{BB962C8B-B14F-4D97-AF65-F5344CB8AC3E}">
        <p14:creationId xmlns:p14="http://schemas.microsoft.com/office/powerpoint/2010/main" val="3797439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n 28">
            <a:extLst>
              <a:ext uri="{FF2B5EF4-FFF2-40B4-BE49-F238E27FC236}">
                <a16:creationId xmlns:a16="http://schemas.microsoft.com/office/drawing/2014/main" id="{B88ACCCE-2B78-22FA-0ADA-825CCA6A9CC7}"/>
              </a:ext>
            </a:extLst>
          </p:cNvPr>
          <p:cNvPicPr>
            <a:picLocks noChangeAspect="1"/>
          </p:cNvPicPr>
          <p:nvPr/>
        </p:nvPicPr>
        <p:blipFill>
          <a:blip r:embed="rId2"/>
          <a:stretch>
            <a:fillRect/>
          </a:stretch>
        </p:blipFill>
        <p:spPr>
          <a:xfrm>
            <a:off x="-31190" y="622013"/>
            <a:ext cx="12192000" cy="6096000"/>
          </a:xfrm>
          <a:prstGeom prst="rect">
            <a:avLst/>
          </a:prstGeom>
        </p:spPr>
      </p:pic>
      <p:sp>
        <p:nvSpPr>
          <p:cNvPr id="2" name="Título 1"/>
          <p:cNvSpPr>
            <a:spLocks noGrp="1"/>
          </p:cNvSpPr>
          <p:nvPr>
            <p:ph type="title"/>
          </p:nvPr>
        </p:nvSpPr>
        <p:spPr>
          <a:xfrm>
            <a:off x="838200" y="175504"/>
            <a:ext cx="10515600" cy="702710"/>
          </a:xfrm>
        </p:spPr>
        <p:txBody>
          <a:bodyPr>
            <a:noAutofit/>
          </a:bodyPr>
          <a:lstStyle/>
          <a:p>
            <a:pPr algn="ctr"/>
            <a:r>
              <a:rPr lang="es-MX" sz="2000" b="1" dirty="0">
                <a:latin typeface="Century Gothic" panose="020B0502020202020204" pitchFamily="34" charset="0"/>
              </a:rPr>
              <a:t>Ingreso Corriente Per Cápita</a:t>
            </a:r>
            <a:endParaRPr lang="es-EC" sz="2000" dirty="0"/>
          </a:p>
        </p:txBody>
      </p:sp>
      <mc:AlternateContent xmlns:mc="http://schemas.openxmlformats.org/markup-compatibility/2006">
        <mc:Choice xmlns:p14="http://schemas.microsoft.com/office/powerpoint/2010/main" Requires="p14">
          <p:contentPart p14:bwMode="auto" r:id="rId3">
            <p14:nvContentPartPr>
              <p14:cNvPr id="9" name="Entrada de lápiz 8">
                <a:extLst>
                  <a:ext uri="{FF2B5EF4-FFF2-40B4-BE49-F238E27FC236}">
                    <a16:creationId xmlns:a16="http://schemas.microsoft.com/office/drawing/2014/main" id="{3EDFD523-155A-E3B5-A073-D18D4C81E9B7}"/>
                  </a:ext>
                </a:extLst>
              </p14:cNvPr>
              <p14:cNvContentPartPr/>
              <p14:nvPr/>
            </p14:nvContentPartPr>
            <p14:xfrm>
              <a:off x="9237130" y="5178350"/>
              <a:ext cx="37440" cy="130680"/>
            </p14:xfrm>
          </p:contentPart>
        </mc:Choice>
        <mc:Fallback>
          <p:pic>
            <p:nvPicPr>
              <p:cNvPr id="9" name="Entrada de lápiz 8">
                <a:extLst>
                  <a:ext uri="{FF2B5EF4-FFF2-40B4-BE49-F238E27FC236}">
                    <a16:creationId xmlns:a16="http://schemas.microsoft.com/office/drawing/2014/main" id="{3EDFD523-155A-E3B5-A073-D18D4C81E9B7}"/>
                  </a:ext>
                </a:extLst>
              </p:cNvPr>
              <p:cNvPicPr/>
              <p:nvPr/>
            </p:nvPicPr>
            <p:blipFill>
              <a:blip r:embed="rId4"/>
              <a:stretch>
                <a:fillRect/>
              </a:stretch>
            </p:blipFill>
            <p:spPr>
              <a:xfrm>
                <a:off x="9228130" y="5169350"/>
                <a:ext cx="55080" cy="148320"/>
              </a:xfrm>
              <a:prstGeom prst="rect">
                <a:avLst/>
              </a:prstGeom>
            </p:spPr>
          </p:pic>
        </mc:Fallback>
      </mc:AlternateContent>
      <p:grpSp>
        <p:nvGrpSpPr>
          <p:cNvPr id="24" name="Grupo 23">
            <a:extLst>
              <a:ext uri="{FF2B5EF4-FFF2-40B4-BE49-F238E27FC236}">
                <a16:creationId xmlns:a16="http://schemas.microsoft.com/office/drawing/2014/main" id="{F45C0C70-E683-6E11-4DAC-E1D09C668017}"/>
              </a:ext>
            </a:extLst>
          </p:cNvPr>
          <p:cNvGrpSpPr/>
          <p:nvPr/>
        </p:nvGrpSpPr>
        <p:grpSpPr>
          <a:xfrm>
            <a:off x="9244690" y="5206430"/>
            <a:ext cx="59040" cy="97560"/>
            <a:chOff x="9244690" y="5206430"/>
            <a:chExt cx="59040" cy="97560"/>
          </a:xfrm>
        </p:grpSpPr>
        <mc:AlternateContent xmlns:mc="http://schemas.openxmlformats.org/markup-compatibility/2006">
          <mc:Choice xmlns:p14="http://schemas.microsoft.com/office/powerpoint/2010/main" Requires="p14">
            <p:contentPart p14:bwMode="auto" r:id="rId5">
              <p14:nvContentPartPr>
                <p14:cNvPr id="3" name="Entrada de lápiz 2">
                  <a:extLst>
                    <a:ext uri="{FF2B5EF4-FFF2-40B4-BE49-F238E27FC236}">
                      <a16:creationId xmlns:a16="http://schemas.microsoft.com/office/drawing/2014/main" id="{4D1F3D11-45AB-D9E3-66CB-A113F5758C73}"/>
                    </a:ext>
                  </a:extLst>
                </p14:cNvPr>
                <p14:cNvContentPartPr/>
                <p14:nvPr/>
              </p14:nvContentPartPr>
              <p14:xfrm>
                <a:off x="9265210" y="5234150"/>
                <a:ext cx="360" cy="360"/>
              </p14:xfrm>
            </p:contentPart>
          </mc:Choice>
          <mc:Fallback>
            <p:pic>
              <p:nvPicPr>
                <p:cNvPr id="3" name="Entrada de lápiz 2">
                  <a:extLst>
                    <a:ext uri="{FF2B5EF4-FFF2-40B4-BE49-F238E27FC236}">
                      <a16:creationId xmlns:a16="http://schemas.microsoft.com/office/drawing/2014/main" id="{4D1F3D11-45AB-D9E3-66CB-A113F5758C73}"/>
                    </a:ext>
                  </a:extLst>
                </p:cNvPr>
                <p:cNvPicPr/>
                <p:nvPr/>
              </p:nvPicPr>
              <p:blipFill>
                <a:blip r:embed="rId6"/>
                <a:stretch>
                  <a:fillRect/>
                </a:stretch>
              </p:blipFill>
              <p:spPr>
                <a:xfrm>
                  <a:off x="9256210" y="522551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Entrada de lápiz 4">
                  <a:extLst>
                    <a:ext uri="{FF2B5EF4-FFF2-40B4-BE49-F238E27FC236}">
                      <a16:creationId xmlns:a16="http://schemas.microsoft.com/office/drawing/2014/main" id="{F27EC63E-EF3B-BD06-98D0-8DDC6CB7EF6E}"/>
                    </a:ext>
                  </a:extLst>
                </p14:cNvPr>
                <p14:cNvContentPartPr/>
                <p14:nvPr/>
              </p14:nvContentPartPr>
              <p14:xfrm>
                <a:off x="9265210" y="5224790"/>
                <a:ext cx="360" cy="1800"/>
              </p14:xfrm>
            </p:contentPart>
          </mc:Choice>
          <mc:Fallback>
            <p:pic>
              <p:nvPicPr>
                <p:cNvPr id="5" name="Entrada de lápiz 4">
                  <a:extLst>
                    <a:ext uri="{FF2B5EF4-FFF2-40B4-BE49-F238E27FC236}">
                      <a16:creationId xmlns:a16="http://schemas.microsoft.com/office/drawing/2014/main" id="{F27EC63E-EF3B-BD06-98D0-8DDC6CB7EF6E}"/>
                    </a:ext>
                  </a:extLst>
                </p:cNvPr>
                <p:cNvPicPr/>
                <p:nvPr/>
              </p:nvPicPr>
              <p:blipFill>
                <a:blip r:embed="rId6"/>
                <a:stretch>
                  <a:fillRect/>
                </a:stretch>
              </p:blipFill>
              <p:spPr>
                <a:xfrm>
                  <a:off x="9256210" y="5216150"/>
                  <a:ext cx="180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 name="Entrada de lápiz 10">
                  <a:extLst>
                    <a:ext uri="{FF2B5EF4-FFF2-40B4-BE49-F238E27FC236}">
                      <a16:creationId xmlns:a16="http://schemas.microsoft.com/office/drawing/2014/main" id="{23119E69-F420-0DB2-86AD-1B69422BFEC6}"/>
                    </a:ext>
                  </a:extLst>
                </p14:cNvPr>
                <p14:cNvContentPartPr/>
                <p14:nvPr/>
              </p14:nvContentPartPr>
              <p14:xfrm>
                <a:off x="9274570" y="5226950"/>
                <a:ext cx="29160" cy="7920"/>
              </p14:xfrm>
            </p:contentPart>
          </mc:Choice>
          <mc:Fallback>
            <p:pic>
              <p:nvPicPr>
                <p:cNvPr id="11" name="Entrada de lápiz 10">
                  <a:extLst>
                    <a:ext uri="{FF2B5EF4-FFF2-40B4-BE49-F238E27FC236}">
                      <a16:creationId xmlns:a16="http://schemas.microsoft.com/office/drawing/2014/main" id="{23119E69-F420-0DB2-86AD-1B69422BFEC6}"/>
                    </a:ext>
                  </a:extLst>
                </p:cNvPr>
                <p:cNvPicPr/>
                <p:nvPr/>
              </p:nvPicPr>
              <p:blipFill>
                <a:blip r:embed="rId9"/>
                <a:stretch>
                  <a:fillRect/>
                </a:stretch>
              </p:blipFill>
              <p:spPr>
                <a:xfrm>
                  <a:off x="9265570" y="5217950"/>
                  <a:ext cx="4680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Entrada de lápiz 11">
                  <a:extLst>
                    <a:ext uri="{FF2B5EF4-FFF2-40B4-BE49-F238E27FC236}">
                      <a16:creationId xmlns:a16="http://schemas.microsoft.com/office/drawing/2014/main" id="{2B505619-A076-88E6-4A87-D0885C1CA055}"/>
                    </a:ext>
                  </a:extLst>
                </p14:cNvPr>
                <p14:cNvContentPartPr/>
                <p14:nvPr/>
              </p14:nvContentPartPr>
              <p14:xfrm>
                <a:off x="9293290" y="5224790"/>
                <a:ext cx="360" cy="360"/>
              </p14:xfrm>
            </p:contentPart>
          </mc:Choice>
          <mc:Fallback>
            <p:pic>
              <p:nvPicPr>
                <p:cNvPr id="12" name="Entrada de lápiz 11">
                  <a:extLst>
                    <a:ext uri="{FF2B5EF4-FFF2-40B4-BE49-F238E27FC236}">
                      <a16:creationId xmlns:a16="http://schemas.microsoft.com/office/drawing/2014/main" id="{2B505619-A076-88E6-4A87-D0885C1CA055}"/>
                    </a:ext>
                  </a:extLst>
                </p:cNvPr>
                <p:cNvPicPr/>
                <p:nvPr/>
              </p:nvPicPr>
              <p:blipFill>
                <a:blip r:embed="rId6"/>
                <a:stretch>
                  <a:fillRect/>
                </a:stretch>
              </p:blipFill>
              <p:spPr>
                <a:xfrm>
                  <a:off x="9284290" y="521615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3" name="Entrada de lápiz 12">
                  <a:extLst>
                    <a:ext uri="{FF2B5EF4-FFF2-40B4-BE49-F238E27FC236}">
                      <a16:creationId xmlns:a16="http://schemas.microsoft.com/office/drawing/2014/main" id="{423BB745-EECF-1370-FDD5-AAEE10935677}"/>
                    </a:ext>
                  </a:extLst>
                </p14:cNvPr>
                <p14:cNvContentPartPr/>
                <p14:nvPr/>
              </p14:nvContentPartPr>
              <p14:xfrm>
                <a:off x="9285730" y="5224790"/>
                <a:ext cx="7920" cy="7920"/>
              </p14:xfrm>
            </p:contentPart>
          </mc:Choice>
          <mc:Fallback>
            <p:pic>
              <p:nvPicPr>
                <p:cNvPr id="13" name="Entrada de lápiz 12">
                  <a:extLst>
                    <a:ext uri="{FF2B5EF4-FFF2-40B4-BE49-F238E27FC236}">
                      <a16:creationId xmlns:a16="http://schemas.microsoft.com/office/drawing/2014/main" id="{423BB745-EECF-1370-FDD5-AAEE10935677}"/>
                    </a:ext>
                  </a:extLst>
                </p:cNvPr>
                <p:cNvPicPr/>
                <p:nvPr/>
              </p:nvPicPr>
              <p:blipFill>
                <a:blip r:embed="rId12"/>
                <a:stretch>
                  <a:fillRect/>
                </a:stretch>
              </p:blipFill>
              <p:spPr>
                <a:xfrm>
                  <a:off x="9276730" y="5216150"/>
                  <a:ext cx="255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4" name="Entrada de lápiz 13">
                  <a:extLst>
                    <a:ext uri="{FF2B5EF4-FFF2-40B4-BE49-F238E27FC236}">
                      <a16:creationId xmlns:a16="http://schemas.microsoft.com/office/drawing/2014/main" id="{F3985090-7C98-D59F-2D47-960715F4F931}"/>
                    </a:ext>
                  </a:extLst>
                </p14:cNvPr>
                <p14:cNvContentPartPr/>
                <p14:nvPr/>
              </p14:nvContentPartPr>
              <p14:xfrm>
                <a:off x="9274570" y="5215790"/>
                <a:ext cx="360" cy="360"/>
              </p14:xfrm>
            </p:contentPart>
          </mc:Choice>
          <mc:Fallback>
            <p:pic>
              <p:nvPicPr>
                <p:cNvPr id="14" name="Entrada de lápiz 13">
                  <a:extLst>
                    <a:ext uri="{FF2B5EF4-FFF2-40B4-BE49-F238E27FC236}">
                      <a16:creationId xmlns:a16="http://schemas.microsoft.com/office/drawing/2014/main" id="{F3985090-7C98-D59F-2D47-960715F4F931}"/>
                    </a:ext>
                  </a:extLst>
                </p:cNvPr>
                <p:cNvPicPr/>
                <p:nvPr/>
              </p:nvPicPr>
              <p:blipFill>
                <a:blip r:embed="rId6"/>
                <a:stretch>
                  <a:fillRect/>
                </a:stretch>
              </p:blipFill>
              <p:spPr>
                <a:xfrm>
                  <a:off x="9265570" y="520679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5" name="Entrada de lápiz 14">
                  <a:extLst>
                    <a:ext uri="{FF2B5EF4-FFF2-40B4-BE49-F238E27FC236}">
                      <a16:creationId xmlns:a16="http://schemas.microsoft.com/office/drawing/2014/main" id="{81977C2D-B1A6-5067-1F2B-7CB5C7175DE9}"/>
                    </a:ext>
                  </a:extLst>
                </p14:cNvPr>
                <p14:cNvContentPartPr/>
                <p14:nvPr/>
              </p14:nvContentPartPr>
              <p14:xfrm>
                <a:off x="9274570" y="5206430"/>
                <a:ext cx="360" cy="360"/>
              </p14:xfrm>
            </p:contentPart>
          </mc:Choice>
          <mc:Fallback>
            <p:pic>
              <p:nvPicPr>
                <p:cNvPr id="15" name="Entrada de lápiz 14">
                  <a:extLst>
                    <a:ext uri="{FF2B5EF4-FFF2-40B4-BE49-F238E27FC236}">
                      <a16:creationId xmlns:a16="http://schemas.microsoft.com/office/drawing/2014/main" id="{81977C2D-B1A6-5067-1F2B-7CB5C7175DE9}"/>
                    </a:ext>
                  </a:extLst>
                </p:cNvPr>
                <p:cNvPicPr/>
                <p:nvPr/>
              </p:nvPicPr>
              <p:blipFill>
                <a:blip r:embed="rId6"/>
                <a:stretch>
                  <a:fillRect/>
                </a:stretch>
              </p:blipFill>
              <p:spPr>
                <a:xfrm>
                  <a:off x="9265570" y="519743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7" name="Entrada de lápiz 16">
                  <a:extLst>
                    <a:ext uri="{FF2B5EF4-FFF2-40B4-BE49-F238E27FC236}">
                      <a16:creationId xmlns:a16="http://schemas.microsoft.com/office/drawing/2014/main" id="{61D970E6-A285-3534-47E7-527FE679570D}"/>
                    </a:ext>
                  </a:extLst>
                </p14:cNvPr>
                <p14:cNvContentPartPr/>
                <p14:nvPr/>
              </p14:nvContentPartPr>
              <p14:xfrm>
                <a:off x="9274570" y="5262230"/>
                <a:ext cx="360" cy="360"/>
              </p14:xfrm>
            </p:contentPart>
          </mc:Choice>
          <mc:Fallback>
            <p:pic>
              <p:nvPicPr>
                <p:cNvPr id="17" name="Entrada de lápiz 16">
                  <a:extLst>
                    <a:ext uri="{FF2B5EF4-FFF2-40B4-BE49-F238E27FC236}">
                      <a16:creationId xmlns:a16="http://schemas.microsoft.com/office/drawing/2014/main" id="{61D970E6-A285-3534-47E7-527FE679570D}"/>
                    </a:ext>
                  </a:extLst>
                </p:cNvPr>
                <p:cNvPicPr/>
                <p:nvPr/>
              </p:nvPicPr>
              <p:blipFill>
                <a:blip r:embed="rId6"/>
                <a:stretch>
                  <a:fillRect/>
                </a:stretch>
              </p:blipFill>
              <p:spPr>
                <a:xfrm>
                  <a:off x="9265570" y="525359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8" name="Entrada de lápiz 17">
                  <a:extLst>
                    <a:ext uri="{FF2B5EF4-FFF2-40B4-BE49-F238E27FC236}">
                      <a16:creationId xmlns:a16="http://schemas.microsoft.com/office/drawing/2014/main" id="{D730D545-64AA-A0D6-76AC-1667E0154DA3}"/>
                    </a:ext>
                  </a:extLst>
                </p14:cNvPr>
                <p14:cNvContentPartPr/>
                <p14:nvPr/>
              </p14:nvContentPartPr>
              <p14:xfrm>
                <a:off x="9274570" y="5262230"/>
                <a:ext cx="360" cy="360"/>
              </p14:xfrm>
            </p:contentPart>
          </mc:Choice>
          <mc:Fallback>
            <p:pic>
              <p:nvPicPr>
                <p:cNvPr id="18" name="Entrada de lápiz 17">
                  <a:extLst>
                    <a:ext uri="{FF2B5EF4-FFF2-40B4-BE49-F238E27FC236}">
                      <a16:creationId xmlns:a16="http://schemas.microsoft.com/office/drawing/2014/main" id="{D730D545-64AA-A0D6-76AC-1667E0154DA3}"/>
                    </a:ext>
                  </a:extLst>
                </p:cNvPr>
                <p:cNvPicPr/>
                <p:nvPr/>
              </p:nvPicPr>
              <p:blipFill>
                <a:blip r:embed="rId6"/>
                <a:stretch>
                  <a:fillRect/>
                </a:stretch>
              </p:blipFill>
              <p:spPr>
                <a:xfrm>
                  <a:off x="9265570" y="525359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0" name="Entrada de lápiz 19">
                  <a:extLst>
                    <a:ext uri="{FF2B5EF4-FFF2-40B4-BE49-F238E27FC236}">
                      <a16:creationId xmlns:a16="http://schemas.microsoft.com/office/drawing/2014/main" id="{24A7C0D6-10F0-EB11-F99B-38ED6CE69535}"/>
                    </a:ext>
                  </a:extLst>
                </p14:cNvPr>
                <p14:cNvContentPartPr/>
                <p14:nvPr/>
              </p14:nvContentPartPr>
              <p14:xfrm>
                <a:off x="9244690" y="5280950"/>
                <a:ext cx="30240" cy="23040"/>
              </p14:xfrm>
            </p:contentPart>
          </mc:Choice>
          <mc:Fallback>
            <p:pic>
              <p:nvPicPr>
                <p:cNvPr id="20" name="Entrada de lápiz 19">
                  <a:extLst>
                    <a:ext uri="{FF2B5EF4-FFF2-40B4-BE49-F238E27FC236}">
                      <a16:creationId xmlns:a16="http://schemas.microsoft.com/office/drawing/2014/main" id="{24A7C0D6-10F0-EB11-F99B-38ED6CE69535}"/>
                    </a:ext>
                  </a:extLst>
                </p:cNvPr>
                <p:cNvPicPr/>
                <p:nvPr/>
              </p:nvPicPr>
              <p:blipFill>
                <a:blip r:embed="rId18"/>
                <a:stretch>
                  <a:fillRect/>
                </a:stretch>
              </p:blipFill>
              <p:spPr>
                <a:xfrm>
                  <a:off x="9235690" y="5271950"/>
                  <a:ext cx="4788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2" name="Entrada de lápiz 21">
                  <a:extLst>
                    <a:ext uri="{FF2B5EF4-FFF2-40B4-BE49-F238E27FC236}">
                      <a16:creationId xmlns:a16="http://schemas.microsoft.com/office/drawing/2014/main" id="{C9ACFDE2-2D20-F7C4-5441-AAC2F6447366}"/>
                    </a:ext>
                  </a:extLst>
                </p14:cNvPr>
                <p14:cNvContentPartPr/>
                <p14:nvPr/>
              </p14:nvContentPartPr>
              <p14:xfrm>
                <a:off x="9274570" y="5262230"/>
                <a:ext cx="360" cy="360"/>
              </p14:xfrm>
            </p:contentPart>
          </mc:Choice>
          <mc:Fallback>
            <p:pic>
              <p:nvPicPr>
                <p:cNvPr id="22" name="Entrada de lápiz 21">
                  <a:extLst>
                    <a:ext uri="{FF2B5EF4-FFF2-40B4-BE49-F238E27FC236}">
                      <a16:creationId xmlns:a16="http://schemas.microsoft.com/office/drawing/2014/main" id="{C9ACFDE2-2D20-F7C4-5441-AAC2F6447366}"/>
                    </a:ext>
                  </a:extLst>
                </p:cNvPr>
                <p:cNvPicPr/>
                <p:nvPr/>
              </p:nvPicPr>
              <p:blipFill>
                <a:blip r:embed="rId6"/>
                <a:stretch>
                  <a:fillRect/>
                </a:stretch>
              </p:blipFill>
              <p:spPr>
                <a:xfrm>
                  <a:off x="9265570" y="525359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Entrada de lápiz 22">
                  <a:extLst>
                    <a:ext uri="{FF2B5EF4-FFF2-40B4-BE49-F238E27FC236}">
                      <a16:creationId xmlns:a16="http://schemas.microsoft.com/office/drawing/2014/main" id="{5E878797-1FEF-D827-223E-CA3B6FCBFD3D}"/>
                    </a:ext>
                  </a:extLst>
                </p14:cNvPr>
                <p14:cNvContentPartPr/>
                <p14:nvPr/>
              </p14:nvContentPartPr>
              <p14:xfrm>
                <a:off x="9274570" y="5252870"/>
                <a:ext cx="360" cy="360"/>
              </p14:xfrm>
            </p:contentPart>
          </mc:Choice>
          <mc:Fallback>
            <p:pic>
              <p:nvPicPr>
                <p:cNvPr id="23" name="Entrada de lápiz 22">
                  <a:extLst>
                    <a:ext uri="{FF2B5EF4-FFF2-40B4-BE49-F238E27FC236}">
                      <a16:creationId xmlns:a16="http://schemas.microsoft.com/office/drawing/2014/main" id="{5E878797-1FEF-D827-223E-CA3B6FCBFD3D}"/>
                    </a:ext>
                  </a:extLst>
                </p:cNvPr>
                <p:cNvPicPr/>
                <p:nvPr/>
              </p:nvPicPr>
              <p:blipFill>
                <a:blip r:embed="rId6"/>
                <a:stretch>
                  <a:fillRect/>
                </a:stretch>
              </p:blipFill>
              <p:spPr>
                <a:xfrm>
                  <a:off x="9265570" y="5244230"/>
                  <a:ext cx="1800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25" name="Entrada de lápiz 24">
                <a:extLst>
                  <a:ext uri="{FF2B5EF4-FFF2-40B4-BE49-F238E27FC236}">
                    <a16:creationId xmlns:a16="http://schemas.microsoft.com/office/drawing/2014/main" id="{96E84787-A733-1831-C2CC-FE694AD50B84}"/>
                  </a:ext>
                </a:extLst>
              </p14:cNvPr>
              <p14:cNvContentPartPr/>
              <p14:nvPr/>
            </p14:nvContentPartPr>
            <p14:xfrm>
              <a:off x="9227770" y="5252870"/>
              <a:ext cx="360" cy="360"/>
            </p14:xfrm>
          </p:contentPart>
        </mc:Choice>
        <mc:Fallback>
          <p:pic>
            <p:nvPicPr>
              <p:cNvPr id="25" name="Entrada de lápiz 24">
                <a:extLst>
                  <a:ext uri="{FF2B5EF4-FFF2-40B4-BE49-F238E27FC236}">
                    <a16:creationId xmlns:a16="http://schemas.microsoft.com/office/drawing/2014/main" id="{96E84787-A733-1831-C2CC-FE694AD50B84}"/>
                  </a:ext>
                </a:extLst>
              </p:cNvPr>
              <p:cNvPicPr/>
              <p:nvPr/>
            </p:nvPicPr>
            <p:blipFill>
              <a:blip r:embed="rId6"/>
              <a:stretch>
                <a:fillRect/>
              </a:stretch>
            </p:blipFill>
            <p:spPr>
              <a:xfrm>
                <a:off x="9219130" y="524423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6" name="Entrada de lápiz 25">
                <a:extLst>
                  <a:ext uri="{FF2B5EF4-FFF2-40B4-BE49-F238E27FC236}">
                    <a16:creationId xmlns:a16="http://schemas.microsoft.com/office/drawing/2014/main" id="{16FAD3DA-1036-6A9B-6678-FECAA378582C}"/>
                  </a:ext>
                </a:extLst>
              </p14:cNvPr>
              <p14:cNvContentPartPr/>
              <p14:nvPr/>
            </p14:nvContentPartPr>
            <p14:xfrm>
              <a:off x="6064810" y="3153710"/>
              <a:ext cx="7920" cy="360"/>
            </p14:xfrm>
          </p:contentPart>
        </mc:Choice>
        <mc:Fallback>
          <p:pic>
            <p:nvPicPr>
              <p:cNvPr id="26" name="Entrada de lápiz 25">
                <a:extLst>
                  <a:ext uri="{FF2B5EF4-FFF2-40B4-BE49-F238E27FC236}">
                    <a16:creationId xmlns:a16="http://schemas.microsoft.com/office/drawing/2014/main" id="{16FAD3DA-1036-6A9B-6678-FECAA378582C}"/>
                  </a:ext>
                </a:extLst>
              </p:cNvPr>
              <p:cNvPicPr/>
              <p:nvPr/>
            </p:nvPicPr>
            <p:blipFill>
              <a:blip r:embed="rId23"/>
              <a:stretch>
                <a:fillRect/>
              </a:stretch>
            </p:blipFill>
            <p:spPr>
              <a:xfrm>
                <a:off x="6055810" y="3144710"/>
                <a:ext cx="255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7" name="Entrada de lápiz 26">
                <a:extLst>
                  <a:ext uri="{FF2B5EF4-FFF2-40B4-BE49-F238E27FC236}">
                    <a16:creationId xmlns:a16="http://schemas.microsoft.com/office/drawing/2014/main" id="{0718A21D-E7C6-AF26-32E6-7F150DFBD3FD}"/>
                  </a:ext>
                </a:extLst>
              </p14:cNvPr>
              <p14:cNvContentPartPr/>
              <p14:nvPr/>
            </p14:nvContentPartPr>
            <p14:xfrm>
              <a:off x="3097690" y="2080550"/>
              <a:ext cx="360" cy="360"/>
            </p14:xfrm>
          </p:contentPart>
        </mc:Choice>
        <mc:Fallback>
          <p:pic>
            <p:nvPicPr>
              <p:cNvPr id="27" name="Entrada de lápiz 26">
                <a:extLst>
                  <a:ext uri="{FF2B5EF4-FFF2-40B4-BE49-F238E27FC236}">
                    <a16:creationId xmlns:a16="http://schemas.microsoft.com/office/drawing/2014/main" id="{0718A21D-E7C6-AF26-32E6-7F150DFBD3FD}"/>
                  </a:ext>
                </a:extLst>
              </p:cNvPr>
              <p:cNvPicPr/>
              <p:nvPr/>
            </p:nvPicPr>
            <p:blipFill>
              <a:blip r:embed="rId6"/>
              <a:stretch>
                <a:fillRect/>
              </a:stretch>
            </p:blipFill>
            <p:spPr>
              <a:xfrm>
                <a:off x="3088690" y="2071550"/>
                <a:ext cx="18000" cy="18000"/>
              </a:xfrm>
              <a:prstGeom prst="rect">
                <a:avLst/>
              </a:prstGeom>
            </p:spPr>
          </p:pic>
        </mc:Fallback>
      </mc:AlternateContent>
    </p:spTree>
    <p:extLst>
      <p:ext uri="{BB962C8B-B14F-4D97-AF65-F5344CB8AC3E}">
        <p14:creationId xmlns:p14="http://schemas.microsoft.com/office/powerpoint/2010/main" val="146458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0A7E6-9C47-E380-B3C6-2200C92C39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668D4DF-3A59-CF67-0A30-E99B7687F442}"/>
              </a:ext>
            </a:extLst>
          </p:cNvPr>
          <p:cNvSpPr>
            <a:spLocks noGrp="1"/>
          </p:cNvSpPr>
          <p:nvPr>
            <p:ph type="title"/>
          </p:nvPr>
        </p:nvSpPr>
        <p:spPr/>
        <p:txBody>
          <a:bodyPr>
            <a:noAutofit/>
          </a:bodyPr>
          <a:lstStyle/>
          <a:p>
            <a:pPr algn="ctr"/>
            <a:r>
              <a:rPr lang="es-MX" sz="2000" b="1" dirty="0">
                <a:latin typeface="Century Gothic" panose="020B0502020202020204" pitchFamily="34" charset="0"/>
              </a:rPr>
              <a:t>Análisis: </a:t>
            </a:r>
            <a:r>
              <a:rPr lang="es-EC" sz="2000" dirty="0"/>
              <a:t>Diagrama de caja y bigote — Ingreso corriente per cápita:</a:t>
            </a:r>
            <a:endParaRPr lang="es-EC" sz="2000" b="1" dirty="0"/>
          </a:p>
        </p:txBody>
      </p:sp>
      <p:sp>
        <p:nvSpPr>
          <p:cNvPr id="4" name="CuadroTexto 3">
            <a:extLst>
              <a:ext uri="{FF2B5EF4-FFF2-40B4-BE49-F238E27FC236}">
                <a16:creationId xmlns:a16="http://schemas.microsoft.com/office/drawing/2014/main" id="{D5CDE030-6860-3F23-C144-C2E7537FCD8E}"/>
              </a:ext>
            </a:extLst>
          </p:cNvPr>
          <p:cNvSpPr txBox="1"/>
          <p:nvPr/>
        </p:nvSpPr>
        <p:spPr>
          <a:xfrm>
            <a:off x="1777218" y="1925516"/>
            <a:ext cx="8637563" cy="3139321"/>
          </a:xfrm>
          <a:prstGeom prst="rect">
            <a:avLst/>
          </a:prstGeom>
          <a:noFill/>
          <a:ln>
            <a:solidFill>
              <a:schemeClr val="tx1"/>
            </a:solidFill>
          </a:ln>
        </p:spPr>
        <p:txBody>
          <a:bodyPr wrap="square" rtlCol="0">
            <a:spAutoFit/>
          </a:bodyPr>
          <a:lstStyle/>
          <a:p>
            <a:r>
              <a:rPr lang="es-EC" dirty="0"/>
              <a:t>El ingreso promedio más alto se observa en Cantón Ambato ($471,1) y Región Sierra ($470,8), ambos por encima del promedio nacional ($411,4), mientras que Provincia Sucumbíos ($334,7) y Provincia Carchi ($344,2) registran los ingresos más bajos. En los cinco territorios la media supera a la mediana, lo que evidencia una distribución asimétrica hacia la derecha: existen hogares con ingresos muy altos que elevan el promedio. Esta asimetría es más marcada en Región Sierra y Cantón Ambato, donde los valores máximos (6.875,2 y 6.084,8 respectivamente) superan ampliamente el límite superior teórico. El coeficiente de variación es menor a nivel Nacional (1,6%) por su mayor tamaño muestral, y mayor en Sucumbíos y Carchi (4,9% y 4,7%), reflejando más incertidumbre en la estimación por su menor número de hogares encuestados.</a:t>
            </a:r>
            <a:br>
              <a:rPr lang="es-EC" dirty="0"/>
            </a:br>
            <a:r>
              <a:rPr lang="es-EC" dirty="0"/>
              <a:t>Fuente: INEC (2026). ENIGHUR 2024-2025. Elaboración propia.</a:t>
            </a:r>
          </a:p>
        </p:txBody>
      </p:sp>
    </p:spTree>
    <p:extLst>
      <p:ext uri="{BB962C8B-B14F-4D97-AF65-F5344CB8AC3E}">
        <p14:creationId xmlns:p14="http://schemas.microsoft.com/office/powerpoint/2010/main" val="322511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4F0F53F-32C0-D29F-6F5B-BC29F3D38B4C}"/>
              </a:ext>
            </a:extLst>
          </p:cNvPr>
          <p:cNvPicPr>
            <a:picLocks noChangeAspect="1"/>
          </p:cNvPicPr>
          <p:nvPr/>
        </p:nvPicPr>
        <p:blipFill>
          <a:blip r:embed="rId2"/>
          <a:stretch>
            <a:fillRect/>
          </a:stretch>
        </p:blipFill>
        <p:spPr>
          <a:xfrm>
            <a:off x="0" y="120015"/>
            <a:ext cx="12192000" cy="6617970"/>
          </a:xfrm>
          <a:prstGeom prst="rect">
            <a:avLst/>
          </a:prstGeom>
        </p:spPr>
      </p:pic>
    </p:spTree>
    <p:extLst>
      <p:ext uri="{BB962C8B-B14F-4D97-AF65-F5344CB8AC3E}">
        <p14:creationId xmlns:p14="http://schemas.microsoft.com/office/powerpoint/2010/main" val="4062290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06657-6772-F465-4578-58C32D2C47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C503DA-1F04-89B5-1770-C79C07116778}"/>
              </a:ext>
            </a:extLst>
          </p:cNvPr>
          <p:cNvSpPr>
            <a:spLocks noGrp="1"/>
          </p:cNvSpPr>
          <p:nvPr>
            <p:ph type="title"/>
          </p:nvPr>
        </p:nvSpPr>
        <p:spPr/>
        <p:txBody>
          <a:bodyPr>
            <a:noAutofit/>
          </a:bodyPr>
          <a:lstStyle/>
          <a:p>
            <a:pPr algn="ctr"/>
            <a:r>
              <a:rPr lang="es-MX" sz="2000" b="1" dirty="0">
                <a:latin typeface="Century Gothic" panose="020B0502020202020204" pitchFamily="34" charset="0"/>
              </a:rPr>
              <a:t>Análisis: </a:t>
            </a:r>
            <a:r>
              <a:rPr lang="es-EC" sz="2000" dirty="0"/>
              <a:t>Ojiva — Distribución del ingreso corriente per cápita:</a:t>
            </a:r>
            <a:endParaRPr lang="es-EC" sz="2000" b="1" dirty="0"/>
          </a:p>
        </p:txBody>
      </p:sp>
      <p:sp>
        <p:nvSpPr>
          <p:cNvPr id="4" name="CuadroTexto 3">
            <a:extLst>
              <a:ext uri="{FF2B5EF4-FFF2-40B4-BE49-F238E27FC236}">
                <a16:creationId xmlns:a16="http://schemas.microsoft.com/office/drawing/2014/main" id="{DAC6A48A-B51D-00FB-BD14-2485EF34D7BA}"/>
              </a:ext>
            </a:extLst>
          </p:cNvPr>
          <p:cNvSpPr txBox="1"/>
          <p:nvPr/>
        </p:nvSpPr>
        <p:spPr>
          <a:xfrm>
            <a:off x="1777218" y="1925516"/>
            <a:ext cx="8637563" cy="2585323"/>
          </a:xfrm>
          <a:prstGeom prst="rect">
            <a:avLst/>
          </a:prstGeom>
          <a:noFill/>
          <a:ln>
            <a:solidFill>
              <a:schemeClr val="tx1"/>
            </a:solidFill>
          </a:ln>
        </p:spPr>
        <p:txBody>
          <a:bodyPr wrap="square" rtlCol="0">
            <a:spAutoFit/>
          </a:bodyPr>
          <a:lstStyle/>
          <a:p>
            <a:r>
              <a:rPr lang="es-EC" dirty="0"/>
              <a:t>Las curvas muestran que Provincia Sucumbíos concentra una mayor proporción de hogares en niveles de ingreso bajos y medios, alcanzando el 90% de los hogares con ingresos menores a los otros territorios. En contraste, Cantón Ambato presenta la curva más rezagada, lo que indica una mayor dispersión hacia ingresos altos, coherente con su media más elevada. El ingreso máximo observado a nivel Nacional ($14.674) es considerablemente mayor al de cualquier territorio específico, ya que el dato nacional incluye a los hogares de mayores ingresos del país, no representados en los territorios más pequeños del Grupo 12.</a:t>
            </a:r>
            <a:br>
              <a:rPr lang="es-EC" dirty="0"/>
            </a:br>
            <a:r>
              <a:rPr lang="es-EC" dirty="0"/>
              <a:t>Fuente: INEC (2026). ENIGHUR 2024-2025. Elaboración propia.</a:t>
            </a:r>
          </a:p>
        </p:txBody>
      </p:sp>
    </p:spTree>
    <p:extLst>
      <p:ext uri="{BB962C8B-B14F-4D97-AF65-F5344CB8AC3E}">
        <p14:creationId xmlns:p14="http://schemas.microsoft.com/office/powerpoint/2010/main" val="937128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to 3">
            <a:extLst>
              <a:ext uri="{FF2B5EF4-FFF2-40B4-BE49-F238E27FC236}">
                <a16:creationId xmlns:a16="http://schemas.microsoft.com/office/drawing/2014/main" id="{F3469129-80A9-781A-29A0-2AC1D1FCF4E9}"/>
              </a:ext>
            </a:extLst>
          </p:cNvPr>
          <p:cNvGraphicFramePr>
            <a:graphicFrameLocks noChangeAspect="1"/>
          </p:cNvGraphicFramePr>
          <p:nvPr>
            <p:extLst>
              <p:ext uri="{D42A27DB-BD31-4B8C-83A1-F6EECF244321}">
                <p14:modId xmlns:p14="http://schemas.microsoft.com/office/powerpoint/2010/main" val="868723404"/>
              </p:ext>
            </p:extLst>
          </p:nvPr>
        </p:nvGraphicFramePr>
        <p:xfrm>
          <a:off x="2343551" y="933551"/>
          <a:ext cx="6720206" cy="5429927"/>
        </p:xfrm>
        <a:graphic>
          <a:graphicData uri="http://schemas.openxmlformats.org/presentationml/2006/ole">
            <mc:AlternateContent xmlns:mc="http://schemas.openxmlformats.org/markup-compatibility/2006">
              <mc:Choice xmlns:v="urn:schemas-microsoft-com:vml" Requires="v">
                <p:oleObj name="Worksheet" r:id="rId2" imgW="4762535" imgH="3848297" progId="Excel.Sheet.12">
                  <p:embed/>
                </p:oleObj>
              </mc:Choice>
              <mc:Fallback>
                <p:oleObj name="Worksheet" r:id="rId2" imgW="4762535" imgH="3848297" progId="Excel.Sheet.12">
                  <p:embed/>
                  <p:pic>
                    <p:nvPicPr>
                      <p:cNvPr id="0" name=""/>
                      <p:cNvPicPr/>
                      <p:nvPr/>
                    </p:nvPicPr>
                    <p:blipFill>
                      <a:blip r:embed="rId3"/>
                      <a:stretch>
                        <a:fillRect/>
                      </a:stretch>
                    </p:blipFill>
                    <p:spPr>
                      <a:xfrm>
                        <a:off x="2343551" y="933551"/>
                        <a:ext cx="6720206" cy="5429927"/>
                      </a:xfrm>
                      <a:prstGeom prst="rect">
                        <a:avLst/>
                      </a:prstGeom>
                    </p:spPr>
                  </p:pic>
                </p:oleObj>
              </mc:Fallback>
            </mc:AlternateContent>
          </a:graphicData>
        </a:graphic>
      </p:graphicFrame>
      <p:sp>
        <p:nvSpPr>
          <p:cNvPr id="2" name="CuadroTexto 1">
            <a:extLst>
              <a:ext uri="{FF2B5EF4-FFF2-40B4-BE49-F238E27FC236}">
                <a16:creationId xmlns:a16="http://schemas.microsoft.com/office/drawing/2014/main" id="{ACC44ADA-5DC7-DE52-3EF2-9D8A05E60958}"/>
              </a:ext>
            </a:extLst>
          </p:cNvPr>
          <p:cNvSpPr txBox="1"/>
          <p:nvPr/>
        </p:nvSpPr>
        <p:spPr>
          <a:xfrm>
            <a:off x="3097762" y="363894"/>
            <a:ext cx="5735353" cy="461665"/>
          </a:xfrm>
          <a:prstGeom prst="rect">
            <a:avLst/>
          </a:prstGeom>
          <a:noFill/>
        </p:spPr>
        <p:txBody>
          <a:bodyPr wrap="none" rtlCol="0">
            <a:spAutoFit/>
          </a:bodyPr>
          <a:lstStyle/>
          <a:p>
            <a:r>
              <a:rPr lang="es-EC" sz="2400" b="1" dirty="0"/>
              <a:t>Tabla de Medidas Estadísticas por Territorio</a:t>
            </a:r>
          </a:p>
        </p:txBody>
      </p:sp>
    </p:spTree>
    <p:extLst>
      <p:ext uri="{BB962C8B-B14F-4D97-AF65-F5344CB8AC3E}">
        <p14:creationId xmlns:p14="http://schemas.microsoft.com/office/powerpoint/2010/main" val="3897858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D567E-DEFD-4A74-1B12-5EE828BBE7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C530E9-34F0-5879-C5AC-C121FFEF1BD6}"/>
              </a:ext>
            </a:extLst>
          </p:cNvPr>
          <p:cNvSpPr>
            <a:spLocks noGrp="1"/>
          </p:cNvSpPr>
          <p:nvPr>
            <p:ph type="title"/>
          </p:nvPr>
        </p:nvSpPr>
        <p:spPr/>
        <p:txBody>
          <a:bodyPr>
            <a:noAutofit/>
          </a:bodyPr>
          <a:lstStyle/>
          <a:p>
            <a:pPr algn="ctr"/>
            <a:r>
              <a:rPr lang="es-MX" sz="2000" b="1" dirty="0">
                <a:latin typeface="Century Gothic" panose="020B0502020202020204" pitchFamily="34" charset="0"/>
              </a:rPr>
              <a:t>Análisis: </a:t>
            </a:r>
            <a:r>
              <a:rPr lang="es-EC" sz="2000" dirty="0"/>
              <a:t>Tabla de Medidas Estadísticas:</a:t>
            </a:r>
            <a:endParaRPr lang="es-EC" sz="2000" b="1" dirty="0"/>
          </a:p>
        </p:txBody>
      </p:sp>
      <p:sp>
        <p:nvSpPr>
          <p:cNvPr id="4" name="CuadroTexto 3">
            <a:extLst>
              <a:ext uri="{FF2B5EF4-FFF2-40B4-BE49-F238E27FC236}">
                <a16:creationId xmlns:a16="http://schemas.microsoft.com/office/drawing/2014/main" id="{B9F91D00-13C8-F73A-E48B-12CE0610B525}"/>
              </a:ext>
            </a:extLst>
          </p:cNvPr>
          <p:cNvSpPr txBox="1"/>
          <p:nvPr/>
        </p:nvSpPr>
        <p:spPr>
          <a:xfrm>
            <a:off x="1777218" y="1925516"/>
            <a:ext cx="8637563" cy="3416320"/>
          </a:xfrm>
          <a:prstGeom prst="rect">
            <a:avLst/>
          </a:prstGeom>
          <a:noFill/>
          <a:ln>
            <a:solidFill>
              <a:schemeClr val="tx1"/>
            </a:solidFill>
          </a:ln>
        </p:spPr>
        <p:txBody>
          <a:bodyPr wrap="square" rtlCol="0">
            <a:spAutoFit/>
          </a:bodyPr>
          <a:lstStyle/>
          <a:p>
            <a:r>
              <a:rPr lang="es-EC" dirty="0"/>
              <a:t>La tabla confirma que Cantón Ambato ($471,05) y Región Sierra ($470,80) tienen el ingreso promedio más alto, mientras que Provincia Sucumbíos ($334,73) y Provincia Carchi ($344,21) registran los valores más bajos. En los cinco territorios la media supera a la mediana (Q2), evidenciando asimetría positiva: por ejemplo, a nivel Nacional la media es $411,37 frente a una mediana de apenas $286,67. El coeficiente de variación es más bajo en Nacional (1,6%) y Región Sierra (2,0%), gracias a su mayor tamaño muestral, y más alto en Provincia Sucumbíos (4,9%) y Provincia Carchi (4,7%), reflejando mayor incertidumbre estadística por sus muestras reducidas. Los deciles muestran además que la brecha entre el Decil 1 y el Decil 9 es más amplia en Cantón Ambato (de $136,14 a $950,00) y más estrecha en Provincia Sucumbíos (de $101,04 a $643,81), lo que indica una distribución de ingresos relativamente menos desigual en ese territorio.</a:t>
            </a:r>
            <a:br>
              <a:rPr lang="es-EC" dirty="0"/>
            </a:br>
            <a:r>
              <a:rPr lang="es-EC" dirty="0"/>
              <a:t>Fuente: INEC (2026). ENIGHUR 2024-2025. Elaboración propia.</a:t>
            </a:r>
          </a:p>
        </p:txBody>
      </p:sp>
    </p:spTree>
    <p:extLst>
      <p:ext uri="{BB962C8B-B14F-4D97-AF65-F5344CB8AC3E}">
        <p14:creationId xmlns:p14="http://schemas.microsoft.com/office/powerpoint/2010/main" val="213785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3585441-8FFA-FA5B-1490-F49E1315E50A}"/>
              </a:ext>
            </a:extLst>
          </p:cNvPr>
          <p:cNvPicPr>
            <a:picLocks noChangeAspect="1"/>
          </p:cNvPicPr>
          <p:nvPr/>
        </p:nvPicPr>
        <p:blipFill>
          <a:blip r:embed="rId2"/>
          <a:stretch>
            <a:fillRect/>
          </a:stretch>
        </p:blipFill>
        <p:spPr>
          <a:xfrm>
            <a:off x="0" y="115117"/>
            <a:ext cx="12192000" cy="6627765"/>
          </a:xfrm>
          <a:prstGeom prst="rect">
            <a:avLst/>
          </a:prstGeom>
        </p:spPr>
      </p:pic>
      <p:sp>
        <p:nvSpPr>
          <p:cNvPr id="5" name="AutoShape 2" descr="http://127.0.0.1:47960/chunk_output/29B96177dc86499f/EDE59FF5/cqypv7ymiaf6i/000012.png"/>
          <p:cNvSpPr>
            <a:spLocks noChangeAspect="1" noChangeArrowheads="1"/>
          </p:cNvSpPr>
          <p:nvPr/>
        </p:nvSpPr>
        <p:spPr bwMode="auto">
          <a:xfrm>
            <a:off x="10255538" y="618807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C"/>
          </a:p>
        </p:txBody>
      </p:sp>
    </p:spTree>
    <p:extLst>
      <p:ext uri="{BB962C8B-B14F-4D97-AF65-F5344CB8AC3E}">
        <p14:creationId xmlns:p14="http://schemas.microsoft.com/office/powerpoint/2010/main" val="2902288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es-MX" sz="2000" b="1" dirty="0">
                <a:latin typeface="Century Gothic" panose="020B0502020202020204" pitchFamily="34" charset="0"/>
              </a:rPr>
              <a:t>Análisis: </a:t>
            </a:r>
            <a:r>
              <a:rPr lang="es-EC" sz="2000" dirty="0"/>
              <a:t>Gasto de consumo por deciles:</a:t>
            </a:r>
            <a:endParaRPr lang="es-EC" sz="2000" b="1" dirty="0"/>
          </a:p>
        </p:txBody>
      </p:sp>
      <p:sp>
        <p:nvSpPr>
          <p:cNvPr id="4" name="CuadroTexto 3"/>
          <p:cNvSpPr txBox="1"/>
          <p:nvPr/>
        </p:nvSpPr>
        <p:spPr>
          <a:xfrm>
            <a:off x="1777218" y="1925516"/>
            <a:ext cx="8637563" cy="2308324"/>
          </a:xfrm>
          <a:prstGeom prst="rect">
            <a:avLst/>
          </a:prstGeom>
          <a:noFill/>
          <a:ln>
            <a:solidFill>
              <a:schemeClr val="tx1"/>
            </a:solidFill>
          </a:ln>
        </p:spPr>
        <p:txBody>
          <a:bodyPr wrap="square" rtlCol="0">
            <a:spAutoFit/>
          </a:bodyPr>
          <a:lstStyle/>
          <a:p>
            <a:r>
              <a:rPr lang="es-EC" dirty="0"/>
              <a:t>El gasto de consumo aumenta de forma sostenida con el ingreso en los cinco territorios. Cantón Ambato registra el gasto promedio más alto ($759), seguido de Región Sierra ($713,4) y Nacional ($642), mientras que Provincia Sucumbíos presenta el promedio más bajo ($459,8). La brecha entre el Decil 1 y el Decil 10 es más amplia en Cantón Ambato y Región Sierra (los hogares más ricos gastan casi 5 veces más que los más pobres), y más estrecha en Provincia Sucumbíos (3,7 veces), lo que sugiere una menor desigualdad relativa en la capacidad de consumo dentro de ese territorio.</a:t>
            </a:r>
            <a:br>
              <a:rPr lang="es-EC" dirty="0"/>
            </a:br>
            <a:r>
              <a:rPr lang="es-EC" dirty="0"/>
              <a:t>Fuente: INEC (2026). ENIGHUR 2024-2025. Elaboración propia.</a:t>
            </a:r>
          </a:p>
        </p:txBody>
      </p:sp>
    </p:spTree>
    <p:extLst>
      <p:ext uri="{BB962C8B-B14F-4D97-AF65-F5344CB8AC3E}">
        <p14:creationId xmlns:p14="http://schemas.microsoft.com/office/powerpoint/2010/main" val="304938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217B641-64E9-674F-7C33-C724418656E0}"/>
              </a:ext>
            </a:extLst>
          </p:cNvPr>
          <p:cNvPicPr>
            <a:picLocks noChangeAspect="1"/>
          </p:cNvPicPr>
          <p:nvPr/>
        </p:nvPicPr>
        <p:blipFill>
          <a:blip r:embed="rId2"/>
          <a:stretch>
            <a:fillRect/>
          </a:stretch>
        </p:blipFill>
        <p:spPr>
          <a:xfrm>
            <a:off x="294640" y="121920"/>
            <a:ext cx="11602719" cy="6736080"/>
          </a:xfrm>
          <a:prstGeom prst="rect">
            <a:avLst/>
          </a:prstGeom>
        </p:spPr>
      </p:pic>
    </p:spTree>
    <p:extLst>
      <p:ext uri="{BB962C8B-B14F-4D97-AF65-F5344CB8AC3E}">
        <p14:creationId xmlns:p14="http://schemas.microsoft.com/office/powerpoint/2010/main" val="919831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5273-9842-4BAD-AA89-0D3E343204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A52E1B-8506-DBF7-D13B-745134803B58}"/>
              </a:ext>
            </a:extLst>
          </p:cNvPr>
          <p:cNvSpPr>
            <a:spLocks noGrp="1"/>
          </p:cNvSpPr>
          <p:nvPr>
            <p:ph type="title"/>
          </p:nvPr>
        </p:nvSpPr>
        <p:spPr/>
        <p:txBody>
          <a:bodyPr>
            <a:noAutofit/>
          </a:bodyPr>
          <a:lstStyle/>
          <a:p>
            <a:pPr algn="ctr"/>
            <a:r>
              <a:rPr lang="es-MX" sz="2000" b="1" dirty="0">
                <a:latin typeface="Century Gothic" panose="020B0502020202020204" pitchFamily="34" charset="0"/>
              </a:rPr>
              <a:t>Análisis: </a:t>
            </a:r>
            <a:r>
              <a:rPr lang="es-EC" sz="2000" dirty="0"/>
              <a:t>Barras apiladas — Estructura del gasto (Deciles 1, 5 y 10):</a:t>
            </a:r>
            <a:endParaRPr lang="es-EC" sz="2000" b="1" dirty="0"/>
          </a:p>
        </p:txBody>
      </p:sp>
      <p:sp>
        <p:nvSpPr>
          <p:cNvPr id="4" name="CuadroTexto 3">
            <a:extLst>
              <a:ext uri="{FF2B5EF4-FFF2-40B4-BE49-F238E27FC236}">
                <a16:creationId xmlns:a16="http://schemas.microsoft.com/office/drawing/2014/main" id="{9B3DCF68-8083-CD91-1D1A-EE52E1C3AEA6}"/>
              </a:ext>
            </a:extLst>
          </p:cNvPr>
          <p:cNvSpPr txBox="1"/>
          <p:nvPr/>
        </p:nvSpPr>
        <p:spPr>
          <a:xfrm>
            <a:off x="1777218" y="1925516"/>
            <a:ext cx="8637563" cy="2585323"/>
          </a:xfrm>
          <a:prstGeom prst="rect">
            <a:avLst/>
          </a:prstGeom>
          <a:noFill/>
          <a:ln>
            <a:solidFill>
              <a:schemeClr val="tx1"/>
            </a:solidFill>
          </a:ln>
        </p:spPr>
        <p:txBody>
          <a:bodyPr wrap="square" rtlCol="0">
            <a:spAutoFit/>
          </a:bodyPr>
          <a:lstStyle/>
          <a:p>
            <a:r>
              <a:rPr lang="es-EC" dirty="0"/>
              <a:t>En los cinco territorios se confirma la Ley de Engel: la participación de "Alimentos y bebidas no alcohólicas" cae notablemente entre el Decil 1 y el Decil 10 (por ejemplo, de 37,5% a 10,8% a nivel Nacional, y de 31,8% a 8,7% en Cantón Ambato), mientras que rubros como restaurantes/alojamiento y seguros/servicios financieros ganan peso a medida que aumenta el ingreso. La vivienda se mantiene como un gasto proporcionalmente alto y estable en Provincia Carchi y Provincia Sucumbíos incluso en el Decil 10 (18,9% y 10,1% respectivamente), lo que indica que el gasto habitacional es menos sensible al nivel de ingreso que otras categorías de consumo en estos territorios.</a:t>
            </a:r>
            <a:br>
              <a:rPr lang="es-EC" dirty="0"/>
            </a:br>
            <a:r>
              <a:rPr lang="es-EC" dirty="0"/>
              <a:t>Fuente: INEC (2026). ENIGHUR 2024-2025. Elaboración propia.</a:t>
            </a:r>
          </a:p>
        </p:txBody>
      </p:sp>
    </p:spTree>
    <p:extLst>
      <p:ext uri="{BB962C8B-B14F-4D97-AF65-F5344CB8AC3E}">
        <p14:creationId xmlns:p14="http://schemas.microsoft.com/office/powerpoint/2010/main" val="2475316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4000" dirty="0">
                <a:latin typeface="Century Gothic" panose="020B0502020202020204" pitchFamily="34" charset="0"/>
              </a:rPr>
              <a:t>Conclusiones: </a:t>
            </a:r>
            <a:endParaRPr lang="es-EC" sz="4000" dirty="0">
              <a:latin typeface="Century Gothic" panose="020B0502020202020204" pitchFamily="34" charset="0"/>
            </a:endParaRPr>
          </a:p>
        </p:txBody>
      </p:sp>
      <p:sp>
        <p:nvSpPr>
          <p:cNvPr id="3" name="Marcador de contenido 2"/>
          <p:cNvSpPr>
            <a:spLocks noGrp="1"/>
          </p:cNvSpPr>
          <p:nvPr>
            <p:ph idx="1"/>
          </p:nvPr>
        </p:nvSpPr>
        <p:spPr/>
        <p:txBody>
          <a:bodyPr>
            <a:normAutofit/>
          </a:bodyPr>
          <a:lstStyle/>
          <a:p>
            <a:pPr lvl="0"/>
            <a:r>
              <a:rPr lang="es-EC" sz="1600" dirty="0"/>
              <a:t>El ingreso corriente per cápita promedio es más alto en Cantón Ambato ($471,1) y Región Sierra ($470,8), ambos por encima del promedio nacional ($411,4), mientras que Provincia Sucumbíos ($334,7) y Provincia Carchi ($344,2) registran los ingresos más bajos, entre un 16% y un 27% inferiores al promedio nacional.</a:t>
            </a:r>
          </a:p>
          <a:p>
            <a:pPr lvl="0"/>
            <a:r>
              <a:rPr lang="es-EC" sz="1600" dirty="0"/>
              <a:t>En los cinco territorios la distribución del ingreso es asimétrica hacia la derecha (media mayor que la mediana), con presencia de hogares de ingresos extremos que superan ampliamente el límite superior teórico, especialmente en Región Sierra y Cantón Ambato.</a:t>
            </a:r>
          </a:p>
          <a:p>
            <a:pPr lvl="0"/>
            <a:r>
              <a:rPr lang="es-EC" sz="1600" dirty="0"/>
              <a:t>El gasto de consumo crece de forma sostenida junto con el ingreso: los hogares del Decil 10 gastan entre 3,7 y 5 veces más que los del Decil 1, con la brecha más amplia en Cantón Ambato y la más estrecha en Provincia Sucumbíos.</a:t>
            </a:r>
          </a:p>
          <a:p>
            <a:pPr lvl="0"/>
            <a:r>
              <a:rPr lang="es-EC" sz="1600" dirty="0"/>
              <a:t>La composición del gasto confirma la Ley de Engel en todos los territorios: la participación de alimentos cae con el ingreso, mientras que restaurantes, alojamiento y servicios financieros ganan peso a medida que los hogares tienen mayor capacidad de consumo.</a:t>
            </a:r>
          </a:p>
          <a:p>
            <a:pPr lvl="0"/>
            <a:r>
              <a:rPr lang="es-EC" sz="1600" dirty="0"/>
              <a:t>La vivienda representa una carga proporcionalmente más constante en los territorios de menor ingreso (Carchi y Sucumbíos), lo que sugiere que el gasto habitacional es menos flexible frente a cambios de ingreso que otras categorías de consumo.</a:t>
            </a:r>
          </a:p>
          <a:p>
            <a:pPr marL="0" indent="0">
              <a:buNone/>
            </a:pPr>
            <a:endParaRPr lang="es-EC" sz="2400" dirty="0">
              <a:latin typeface="Century Gothic" panose="020B0502020202020204" pitchFamily="34" charset="0"/>
            </a:endParaRPr>
          </a:p>
        </p:txBody>
      </p:sp>
    </p:spTree>
    <p:extLst>
      <p:ext uri="{BB962C8B-B14F-4D97-AF65-F5344CB8AC3E}">
        <p14:creationId xmlns:p14="http://schemas.microsoft.com/office/powerpoint/2010/main" val="56217543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2048</TotalTime>
  <Words>1495</Words>
  <Application>Microsoft Office PowerPoint</Application>
  <PresentationFormat>Panorámica</PresentationFormat>
  <Paragraphs>43</Paragraphs>
  <Slides>17</Slides>
  <Notes>0</Notes>
  <HiddenSlides>0</HiddenSlides>
  <MMClips>0</MMClips>
  <ScaleCrop>false</ScaleCrop>
  <HeadingPairs>
    <vt:vector size="8" baseType="variant">
      <vt:variant>
        <vt:lpstr>Fuentes usadas</vt:lpstr>
      </vt:variant>
      <vt:variant>
        <vt:i4>4</vt:i4>
      </vt:variant>
      <vt:variant>
        <vt:lpstr>Tema</vt:lpstr>
      </vt:variant>
      <vt:variant>
        <vt:i4>1</vt:i4>
      </vt:variant>
      <vt:variant>
        <vt:lpstr>Servidores OLE incrustados</vt:lpstr>
      </vt:variant>
      <vt:variant>
        <vt:i4>2</vt:i4>
      </vt:variant>
      <vt:variant>
        <vt:lpstr>Títulos de diapositiva</vt:lpstr>
      </vt:variant>
      <vt:variant>
        <vt:i4>17</vt:i4>
      </vt:variant>
    </vt:vector>
  </HeadingPairs>
  <TitlesOfParts>
    <vt:vector size="24" baseType="lpstr">
      <vt:lpstr>Arial</vt:lpstr>
      <vt:lpstr>Calibri</vt:lpstr>
      <vt:lpstr>Calibri Light</vt:lpstr>
      <vt:lpstr>Century Gothic</vt:lpstr>
      <vt:lpstr>Tema de Office</vt:lpstr>
      <vt:lpstr>Worksheet</vt:lpstr>
      <vt:lpstr>Hoja de cálculo de Microsoft Excel</vt:lpstr>
      <vt:lpstr>Ingreso y gasto de los hogares en Ecuador: comparación entre el nivel nacional, la Región Sierra, el Cantón Ambato y las provincias de Sucumbíos y Carchi</vt:lpstr>
      <vt:lpstr>Presentación de PowerPoint</vt:lpstr>
      <vt:lpstr>Análisis: Tabla de Territorios y Tamaño Muestral:</vt:lpstr>
      <vt:lpstr>ENIGHUR – Encuesta Nacional de Ingresos y Gasto</vt:lpstr>
      <vt:lpstr>ENIGHUR – Encuesta Nacional de Ingresos y Gasto</vt:lpstr>
      <vt:lpstr>Presentación de PowerPoint</vt:lpstr>
      <vt:lpstr>Ingreso Corriente Per Cápita</vt:lpstr>
      <vt:lpstr>Análisis: Diagrama de caja y bigote — Ingreso corriente per cápita:</vt:lpstr>
      <vt:lpstr>Presentación de PowerPoint</vt:lpstr>
      <vt:lpstr>Análisis: Ojiva — Distribución del ingreso corriente per cápita:</vt:lpstr>
      <vt:lpstr>Presentación de PowerPoint</vt:lpstr>
      <vt:lpstr>Análisis: Tabla de Medidas Estadísticas:</vt:lpstr>
      <vt:lpstr>Presentación de PowerPoint</vt:lpstr>
      <vt:lpstr>Análisis: Gasto de consumo por deciles:</vt:lpstr>
      <vt:lpstr>Presentación de PowerPoint</vt:lpstr>
      <vt:lpstr>Análisis: Barras apiladas — Estructura del gasto (Deciles 1, 5 y 10):</vt:lpstr>
      <vt:lpstr>Conclusiones: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de Introducción a la Estadística</dc:title>
  <dc:creator>INEC Hellen Espinel</dc:creator>
  <cp:lastModifiedBy>Jonathan Vicente Paute Torres</cp:lastModifiedBy>
  <cp:revision>83</cp:revision>
  <dcterms:created xsi:type="dcterms:W3CDTF">2026-08-14T08:18:25Z</dcterms:created>
  <dcterms:modified xsi:type="dcterms:W3CDTF">2026-09-16T06:21:28Z</dcterms:modified>
</cp:coreProperties>
</file>